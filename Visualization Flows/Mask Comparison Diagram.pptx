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51198780" cy="5119878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6" userDrawn="1">
          <p15:clr>
            <a:srgbClr val="A4A3A4"/>
          </p15:clr>
        </p15:guide>
        <p15:guide id="2" pos="16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6126"/>
        <p:guide pos="161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030" y="8379285"/>
            <a:ext cx="38400180" cy="17825233"/>
          </a:xfrm>
        </p:spPr>
        <p:txBody>
          <a:bodyPr anchor="b"/>
          <a:lstStyle>
            <a:lvl1pPr algn="ctr">
              <a:defRPr sz="3359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030" y="26891928"/>
            <a:ext cx="38400180" cy="12361511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59685" indent="0" algn="ctr">
              <a:buNone/>
              <a:defRPr sz="11195"/>
            </a:lvl2pPr>
            <a:lvl3pPr marL="5120005" indent="0" algn="ctr">
              <a:buNone/>
              <a:defRPr sz="10080"/>
            </a:lvl3pPr>
            <a:lvl4pPr marL="7679690" indent="0" algn="ctr">
              <a:buNone/>
              <a:defRPr sz="8960"/>
            </a:lvl4pPr>
            <a:lvl5pPr marL="10240010" indent="0" algn="ctr">
              <a:buNone/>
              <a:defRPr sz="8960"/>
            </a:lvl5pPr>
            <a:lvl6pPr marL="12799695" indent="0" algn="ctr">
              <a:buNone/>
              <a:defRPr sz="8960"/>
            </a:lvl6pPr>
            <a:lvl7pPr marL="15360015" indent="0" algn="ctr">
              <a:buNone/>
              <a:defRPr sz="8960"/>
            </a:lvl7pPr>
            <a:lvl8pPr marL="17919700" indent="0" algn="ctr">
              <a:buNone/>
              <a:defRPr sz="8960"/>
            </a:lvl8pPr>
            <a:lvl9pPr marL="20479385" indent="0" algn="ctr">
              <a:buNone/>
              <a:defRPr sz="896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350" y="12764482"/>
            <a:ext cx="44160207" cy="21297831"/>
          </a:xfrm>
        </p:spPr>
        <p:txBody>
          <a:bodyPr anchor="b"/>
          <a:lstStyle>
            <a:lvl1pPr>
              <a:defRPr sz="3359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350" y="34263799"/>
            <a:ext cx="44160207" cy="1120002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75000"/>
                  </a:schemeClr>
                </a:solidFill>
              </a:defRPr>
            </a:lvl1pPr>
            <a:lvl2pPr marL="2559685" indent="0">
              <a:buNone/>
              <a:defRPr sz="11195">
                <a:solidFill>
                  <a:schemeClr val="tx1">
                    <a:tint val="75000"/>
                  </a:schemeClr>
                </a:solidFill>
              </a:defRPr>
            </a:lvl2pPr>
            <a:lvl3pPr marL="5120005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7969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001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79969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001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197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7938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017" y="13629666"/>
            <a:ext cx="21760102" cy="324860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0122" y="13629666"/>
            <a:ext cx="21760102" cy="324860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85" y="2725933"/>
            <a:ext cx="44160207" cy="98963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6685" y="12551148"/>
            <a:ext cx="21660100" cy="6151124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59685" indent="0">
              <a:buNone/>
              <a:defRPr sz="11195" b="1"/>
            </a:lvl2pPr>
            <a:lvl3pPr marL="5120005" indent="0">
              <a:buNone/>
              <a:defRPr sz="10080" b="1"/>
            </a:lvl3pPr>
            <a:lvl4pPr marL="7679690" indent="0">
              <a:buNone/>
              <a:defRPr sz="8960" b="1"/>
            </a:lvl4pPr>
            <a:lvl5pPr marL="10240010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19700" indent="0">
              <a:buNone/>
              <a:defRPr sz="8960" b="1"/>
            </a:lvl8pPr>
            <a:lvl9pPr marL="20479385" indent="0">
              <a:buNone/>
              <a:defRPr sz="896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6685" y="18702272"/>
            <a:ext cx="21660100" cy="275082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0122" y="12551148"/>
            <a:ext cx="21766771" cy="6151124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59685" indent="0">
              <a:buNone/>
              <a:defRPr sz="11195" b="1"/>
            </a:lvl2pPr>
            <a:lvl3pPr marL="5120005" indent="0">
              <a:buNone/>
              <a:defRPr sz="10080" b="1"/>
            </a:lvl3pPr>
            <a:lvl4pPr marL="7679690" indent="0">
              <a:buNone/>
              <a:defRPr sz="8960" b="1"/>
            </a:lvl4pPr>
            <a:lvl5pPr marL="10240010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19700" indent="0">
              <a:buNone/>
              <a:defRPr sz="8960" b="1"/>
            </a:lvl8pPr>
            <a:lvl9pPr marL="20479385" indent="0">
              <a:buNone/>
              <a:defRPr sz="896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0122" y="18702272"/>
            <a:ext cx="21766771" cy="275082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85" y="3413342"/>
            <a:ext cx="16513409" cy="11946699"/>
          </a:xfrm>
        </p:spPr>
        <p:txBody>
          <a:bodyPr anchor="b"/>
          <a:lstStyle>
            <a:lvl1pPr>
              <a:defRPr sz="1791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6771" y="7371872"/>
            <a:ext cx="25920122" cy="36385283"/>
          </a:xfrm>
        </p:spPr>
        <p:txBody>
          <a:bodyPr/>
          <a:lstStyle>
            <a:lvl1pPr>
              <a:defRPr sz="17915"/>
            </a:lvl1pPr>
            <a:lvl2pPr>
              <a:defRPr sz="15680"/>
            </a:lvl2pPr>
            <a:lvl3pPr>
              <a:defRPr sz="13440"/>
            </a:lvl3pPr>
            <a:lvl4pPr>
              <a:defRPr sz="11195"/>
            </a:lvl4pPr>
            <a:lvl5pPr>
              <a:defRPr sz="11195"/>
            </a:lvl5pPr>
            <a:lvl6pPr>
              <a:defRPr sz="11195"/>
            </a:lvl6pPr>
            <a:lvl7pPr>
              <a:defRPr sz="11195"/>
            </a:lvl7pPr>
            <a:lvl8pPr>
              <a:defRPr sz="11195"/>
            </a:lvl8pPr>
            <a:lvl9pPr>
              <a:defRPr sz="1119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85" y="15360041"/>
            <a:ext cx="16513409" cy="28456376"/>
          </a:xfrm>
        </p:spPr>
        <p:txBody>
          <a:bodyPr/>
          <a:lstStyle>
            <a:lvl1pPr marL="0" indent="0">
              <a:buNone/>
              <a:defRPr sz="8960"/>
            </a:lvl1pPr>
            <a:lvl2pPr marL="2559685" indent="0">
              <a:buNone/>
              <a:defRPr sz="7840"/>
            </a:lvl2pPr>
            <a:lvl3pPr marL="5120005" indent="0">
              <a:buNone/>
              <a:defRPr sz="6720"/>
            </a:lvl3pPr>
            <a:lvl4pPr marL="7679690" indent="0">
              <a:buNone/>
              <a:defRPr sz="5600"/>
            </a:lvl4pPr>
            <a:lvl5pPr marL="10240010" indent="0">
              <a:buNone/>
              <a:defRPr sz="5600"/>
            </a:lvl5pPr>
            <a:lvl6pPr marL="12799695" indent="0">
              <a:buNone/>
              <a:defRPr sz="5600"/>
            </a:lvl6pPr>
            <a:lvl7pPr marL="15360015" indent="0">
              <a:buNone/>
              <a:defRPr sz="5600"/>
            </a:lvl7pPr>
            <a:lvl8pPr marL="17919700" indent="0">
              <a:buNone/>
              <a:defRPr sz="5600"/>
            </a:lvl8pPr>
            <a:lvl9pPr marL="20479385" indent="0">
              <a:buNone/>
              <a:defRPr sz="5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85" y="3413342"/>
            <a:ext cx="16513409" cy="11946699"/>
          </a:xfrm>
        </p:spPr>
        <p:txBody>
          <a:bodyPr anchor="b"/>
          <a:lstStyle>
            <a:lvl1pPr>
              <a:defRPr sz="1791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66771" y="7371872"/>
            <a:ext cx="25920122" cy="36385283"/>
          </a:xfrm>
        </p:spPr>
        <p:txBody>
          <a:bodyPr/>
          <a:lstStyle>
            <a:lvl1pPr marL="0" indent="0">
              <a:buNone/>
              <a:defRPr sz="17915"/>
            </a:lvl1pPr>
            <a:lvl2pPr marL="2559685" indent="0">
              <a:buNone/>
              <a:defRPr sz="15680"/>
            </a:lvl2pPr>
            <a:lvl3pPr marL="5120005" indent="0">
              <a:buNone/>
              <a:defRPr sz="13440"/>
            </a:lvl3pPr>
            <a:lvl4pPr marL="7679690" indent="0">
              <a:buNone/>
              <a:defRPr sz="11195"/>
            </a:lvl4pPr>
            <a:lvl5pPr marL="10240010" indent="0">
              <a:buNone/>
              <a:defRPr sz="11195"/>
            </a:lvl5pPr>
            <a:lvl6pPr marL="12799695" indent="0">
              <a:buNone/>
              <a:defRPr sz="11195"/>
            </a:lvl6pPr>
            <a:lvl7pPr marL="15360015" indent="0">
              <a:buNone/>
              <a:defRPr sz="11195"/>
            </a:lvl7pPr>
            <a:lvl8pPr marL="17919700" indent="0">
              <a:buNone/>
              <a:defRPr sz="11195"/>
            </a:lvl8pPr>
            <a:lvl9pPr marL="20479385" indent="0">
              <a:buNone/>
              <a:defRPr sz="1119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85" y="15360041"/>
            <a:ext cx="16513409" cy="28456376"/>
          </a:xfrm>
        </p:spPr>
        <p:txBody>
          <a:bodyPr/>
          <a:lstStyle>
            <a:lvl1pPr marL="0" indent="0">
              <a:buNone/>
              <a:defRPr sz="8960"/>
            </a:lvl1pPr>
            <a:lvl2pPr marL="2559685" indent="0">
              <a:buNone/>
              <a:defRPr sz="7840"/>
            </a:lvl2pPr>
            <a:lvl3pPr marL="5120005" indent="0">
              <a:buNone/>
              <a:defRPr sz="6720"/>
            </a:lvl3pPr>
            <a:lvl4pPr marL="7679690" indent="0">
              <a:buNone/>
              <a:defRPr sz="5600"/>
            </a:lvl4pPr>
            <a:lvl5pPr marL="10240010" indent="0">
              <a:buNone/>
              <a:defRPr sz="5600"/>
            </a:lvl5pPr>
            <a:lvl6pPr marL="12799695" indent="0">
              <a:buNone/>
              <a:defRPr sz="5600"/>
            </a:lvl6pPr>
            <a:lvl7pPr marL="15360015" indent="0">
              <a:buNone/>
              <a:defRPr sz="5600"/>
            </a:lvl7pPr>
            <a:lvl8pPr marL="17919700" indent="0">
              <a:buNone/>
              <a:defRPr sz="5600"/>
            </a:lvl8pPr>
            <a:lvl9pPr marL="20479385" indent="0">
              <a:buNone/>
              <a:defRPr sz="5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0172" y="2725933"/>
            <a:ext cx="11040052" cy="433897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017" y="2725933"/>
            <a:ext cx="32480152" cy="433897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017" y="2725933"/>
            <a:ext cx="44160207" cy="989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017" y="13629666"/>
            <a:ext cx="44160207" cy="32486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017" y="47454942"/>
            <a:ext cx="11520054" cy="2725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0080" y="47454942"/>
            <a:ext cx="17280081" cy="2725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0170" y="47454942"/>
            <a:ext cx="11520054" cy="2725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20005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005" rtl="0" eaLnBrk="1" latinLnBrk="0" hangingPunct="1">
        <a:lnSpc>
          <a:spcPct val="90000"/>
        </a:lnSpc>
        <a:spcBef>
          <a:spcPts val="561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3984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16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1195" kern="1200">
          <a:solidFill>
            <a:schemeClr val="tx1"/>
          </a:solidFill>
          <a:latin typeface="+mn-lt"/>
          <a:ea typeface="+mn-ea"/>
          <a:cs typeface="+mn-cs"/>
        </a:defRPr>
      </a:lvl3pPr>
      <a:lvl4pPr marL="8959850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1953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7985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017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199860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59545" indent="-1280160" algn="l" defTabSz="5120005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5968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00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7969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001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79969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001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19700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79385" algn="l" defTabSz="5120005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6" Type="http://schemas.openxmlformats.org/officeDocument/2006/relationships/slideLayout" Target="../slideLayouts/slideLayout1.xml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4530725" y="-1080135"/>
            <a:ext cx="40191055" cy="30850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 sz="7565"/>
          </a:p>
        </p:txBody>
      </p:sp>
      <p:sp>
        <p:nvSpPr>
          <p:cNvPr id="5" name="Rectangles 4"/>
          <p:cNvSpPr/>
          <p:nvPr/>
        </p:nvSpPr>
        <p:spPr>
          <a:xfrm>
            <a:off x="-2856230" y="-19881215"/>
            <a:ext cx="112012730" cy="71079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756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T1c</a:t>
            </a:r>
            <a:endParaRPr lang="en-GB" altLang="en-US" sz="7565"/>
          </a:p>
        </p:txBody>
      </p:sp>
      <p:sp>
        <p:nvSpPr>
          <p:cNvPr id="6" name="Rectangles 5"/>
          <p:cNvSpPr/>
          <p:nvPr/>
        </p:nvSpPr>
        <p:spPr>
          <a:xfrm>
            <a:off x="-2855595" y="-19050000"/>
            <a:ext cx="111879380" cy="4911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7565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Latup</a:t>
            </a:r>
            <a:endParaRPr lang="en-GB" altLang="en-US" sz="7565"/>
          </a:p>
        </p:txBody>
      </p:sp>
      <p:cxnSp>
        <p:nvCxnSpPr>
          <p:cNvPr id="7" name="Straight Connector 6"/>
          <p:cNvCxnSpPr/>
          <p:nvPr/>
        </p:nvCxnSpPr>
        <p:spPr>
          <a:xfrm>
            <a:off x="21965562" y="-19027292"/>
            <a:ext cx="80010" cy="70033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62777" y="-19172998"/>
            <a:ext cx="140970" cy="700106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6829086" y="-19226682"/>
            <a:ext cx="46355" cy="70063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665794" y="-19130660"/>
            <a:ext cx="81915" cy="69968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-2862840" y="-2996664"/>
            <a:ext cx="11204575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8751846" y="-19057772"/>
            <a:ext cx="46355" cy="70063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0674606" y="-19226682"/>
            <a:ext cx="46355" cy="70063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2326221" y="-19130797"/>
            <a:ext cx="46355" cy="70063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-2862840" y="10493276"/>
            <a:ext cx="111982250" cy="35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-2989840" y="23574276"/>
            <a:ext cx="112236250" cy="414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-2862840" y="37235031"/>
            <a:ext cx="111855250" cy="189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-544830" y="-18178780"/>
            <a:ext cx="603313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Flair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13202285" y="-18178780"/>
            <a:ext cx="53086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T1ce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23806150" y="-19130645"/>
            <a:ext cx="738695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Groud Truth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34766250" y="-18178780"/>
            <a:ext cx="11264900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7000" b="1">
                <a:latin typeface="Times New Roman" panose="02020603050405020304" charset="0"/>
                <a:cs typeface="Times New Roman" panose="02020603050405020304" charset="0"/>
              </a:rPr>
              <a:t>MedNeXt</a:t>
            </a:r>
            <a:endParaRPr lang="en-US" altLang="en-GB" sz="17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Text Box 48"/>
          <p:cNvSpPr txBox="1"/>
          <p:nvPr/>
        </p:nvSpPr>
        <p:spPr>
          <a:xfrm>
            <a:off x="48790860" y="-18098135"/>
            <a:ext cx="7874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nnUnet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60270390" y="-18178780"/>
            <a:ext cx="781685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Unet++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71519415" y="-18025110"/>
            <a:ext cx="8255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Unet3+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 Box 51"/>
          <p:cNvSpPr txBox="1"/>
          <p:nvPr/>
        </p:nvSpPr>
        <p:spPr>
          <a:xfrm>
            <a:off x="84580730" y="-18178780"/>
            <a:ext cx="659447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Latup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95981261" y="-19881367"/>
            <a:ext cx="118745" cy="70958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Text Box 53"/>
          <p:cNvSpPr txBox="1"/>
          <p:nvPr/>
        </p:nvSpPr>
        <p:spPr>
          <a:xfrm>
            <a:off x="97435670" y="-18025110"/>
            <a:ext cx="9017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0" b="1">
                <a:latin typeface="Times New Roman" panose="02020603050405020304" charset="0"/>
                <a:cs typeface="Times New Roman" panose="02020603050405020304" charset="0"/>
              </a:rPr>
              <a:t>Proposed</a:t>
            </a:r>
            <a:endParaRPr lang="en-US" altLang="en-GB" sz="1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5" name="Picture 54" descr="Latup_Flair_BraTS-GLI-02478-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2730" y="-13988415"/>
            <a:ext cx="12298045" cy="11226800"/>
          </a:xfrm>
          <a:prstGeom prst="rect">
            <a:avLst/>
          </a:prstGeom>
        </p:spPr>
      </p:pic>
      <p:pic>
        <p:nvPicPr>
          <p:cNvPr id="56" name="Picture 55" descr="Latup_T1ce_BraTS-GLI-02478-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540" y="-13988415"/>
            <a:ext cx="11875770" cy="10870565"/>
          </a:xfrm>
          <a:prstGeom prst="rect">
            <a:avLst/>
          </a:prstGeom>
        </p:spPr>
      </p:pic>
      <p:pic>
        <p:nvPicPr>
          <p:cNvPr id="57" name="Picture 56" descr="Latup_GT_BraTS-GLI-02478-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850" y="-13929995"/>
            <a:ext cx="11972290" cy="10921365"/>
          </a:xfrm>
          <a:prstGeom prst="rect">
            <a:avLst/>
          </a:prstGeom>
        </p:spPr>
      </p:pic>
      <p:pic>
        <p:nvPicPr>
          <p:cNvPr id="58" name="Picture 57" descr="Latup_prediction_BraTS-GLI-02478-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0150" y="-14046200"/>
            <a:ext cx="13321665" cy="10920095"/>
          </a:xfrm>
          <a:prstGeom prst="rect">
            <a:avLst/>
          </a:prstGeom>
        </p:spPr>
      </p:pic>
      <p:pic>
        <p:nvPicPr>
          <p:cNvPr id="60" name="Picture 59" descr="MedNeXt_prediction_BraTS-GLI-02478-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9545" y="-13889990"/>
            <a:ext cx="12315190" cy="10817860"/>
          </a:xfrm>
          <a:prstGeom prst="rect">
            <a:avLst/>
          </a:prstGeom>
        </p:spPr>
      </p:pic>
      <p:pic>
        <p:nvPicPr>
          <p:cNvPr id="61" name="Picture 60" descr="nnUnet_prediction_BraTS-GLI-02478-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6185" y="-13988415"/>
            <a:ext cx="11759565" cy="10852785"/>
          </a:xfrm>
          <a:prstGeom prst="rect">
            <a:avLst/>
          </a:prstGeom>
        </p:spPr>
      </p:pic>
      <p:pic>
        <p:nvPicPr>
          <p:cNvPr id="62" name="Picture 61" descr="Unet++_prediction_BraTS-GLI-02478-1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29270" y="-13875385"/>
            <a:ext cx="11527155" cy="10739755"/>
          </a:xfrm>
          <a:prstGeom prst="rect">
            <a:avLst/>
          </a:prstGeom>
        </p:spPr>
      </p:pic>
      <p:pic>
        <p:nvPicPr>
          <p:cNvPr id="63" name="Picture 62" descr="Unet3+_prediction_BraTS-GLI-02478-10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76465" y="-13875385"/>
            <a:ext cx="11457305" cy="10609580"/>
          </a:xfrm>
          <a:prstGeom prst="rect">
            <a:avLst/>
          </a:prstGeom>
        </p:spPr>
      </p:pic>
      <p:pic>
        <p:nvPicPr>
          <p:cNvPr id="64" name="Picture 63" descr="proposed_prediction_BraTS-GLI-02478-10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7580" y="-13884275"/>
            <a:ext cx="12768580" cy="10612755"/>
          </a:xfrm>
          <a:prstGeom prst="rect">
            <a:avLst/>
          </a:prstGeom>
        </p:spPr>
      </p:pic>
      <p:pic>
        <p:nvPicPr>
          <p:cNvPr id="65" name="Picture 64" descr="Flair_2_BraTS-GLI-02478-1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04465" y="-2495550"/>
            <a:ext cx="12210415" cy="12823825"/>
          </a:xfrm>
          <a:prstGeom prst="rect">
            <a:avLst/>
          </a:prstGeom>
        </p:spPr>
      </p:pic>
      <p:pic>
        <p:nvPicPr>
          <p:cNvPr id="66" name="Picture 65" descr="T1ce_2_BraTS-GLI-02478-10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7905" y="-2461260"/>
            <a:ext cx="11909425" cy="12782550"/>
          </a:xfrm>
          <a:prstGeom prst="rect">
            <a:avLst/>
          </a:prstGeom>
        </p:spPr>
      </p:pic>
      <p:pic>
        <p:nvPicPr>
          <p:cNvPr id="67" name="Picture 66" descr="Mask_2_BraTS-GLI-02478-1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73870" y="-2604135"/>
            <a:ext cx="12077700" cy="12992735"/>
          </a:xfrm>
          <a:prstGeom prst="rect">
            <a:avLst/>
          </a:prstGeom>
        </p:spPr>
      </p:pic>
      <p:pic>
        <p:nvPicPr>
          <p:cNvPr id="68" name="Picture 67" descr="MedNeXt_prediction_2_BraTS-GLI-02478-1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04300" y="-2667000"/>
            <a:ext cx="12116435" cy="13060680"/>
          </a:xfrm>
          <a:prstGeom prst="rect">
            <a:avLst/>
          </a:prstGeom>
        </p:spPr>
      </p:pic>
      <p:pic>
        <p:nvPicPr>
          <p:cNvPr id="69" name="Picture 68" descr="nnUnet_prediction_2_BraTS-GLI-02478-1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30310" y="-2604135"/>
            <a:ext cx="11619865" cy="12902565"/>
          </a:xfrm>
          <a:prstGeom prst="rect">
            <a:avLst/>
          </a:prstGeom>
        </p:spPr>
      </p:pic>
      <p:pic>
        <p:nvPicPr>
          <p:cNvPr id="70" name="Picture 69" descr="Unet++_prediction_2_BraTS-GLI-02478-10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918475" y="-2651760"/>
            <a:ext cx="11630660" cy="12979400"/>
          </a:xfrm>
          <a:prstGeom prst="rect">
            <a:avLst/>
          </a:prstGeom>
        </p:spPr>
      </p:pic>
      <p:pic>
        <p:nvPicPr>
          <p:cNvPr id="71" name="Picture 70" descr="Unet3+_prediction_2_BraTS-GLI-02478-10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17435" y="-2667000"/>
            <a:ext cx="11257915" cy="12994005"/>
          </a:xfrm>
          <a:prstGeom prst="rect">
            <a:avLst/>
          </a:prstGeom>
        </p:spPr>
      </p:pic>
      <p:pic>
        <p:nvPicPr>
          <p:cNvPr id="72" name="Picture 71" descr="latup_prediction_2_BraTS-GLI-02478-10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80150" y="-2813685"/>
            <a:ext cx="13408660" cy="13141325"/>
          </a:xfrm>
          <a:prstGeom prst="rect">
            <a:avLst/>
          </a:prstGeom>
        </p:spPr>
      </p:pic>
      <p:pic>
        <p:nvPicPr>
          <p:cNvPr id="73" name="Picture 72" descr="proposed_prediction_2_BraTS-GLI-02478-10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207580" y="-2679065"/>
            <a:ext cx="12769215" cy="12976860"/>
          </a:xfrm>
          <a:prstGeom prst="rect">
            <a:avLst/>
          </a:prstGeom>
        </p:spPr>
      </p:pic>
      <p:pic>
        <p:nvPicPr>
          <p:cNvPr id="74" name="Picture 73" descr="Flair_3_BraTS-GLI-02318-10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704465" y="10644505"/>
            <a:ext cx="12211050" cy="13180060"/>
          </a:xfrm>
          <a:prstGeom prst="rect">
            <a:avLst/>
          </a:prstGeom>
        </p:spPr>
      </p:pic>
      <p:pic>
        <p:nvPicPr>
          <p:cNvPr id="75" name="Picture 74" descr="T1ce_3_BraTS-GLI-02318-10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8540" y="10644505"/>
            <a:ext cx="11876405" cy="12930505"/>
          </a:xfrm>
          <a:prstGeom prst="rect">
            <a:avLst/>
          </a:prstGeom>
        </p:spPr>
      </p:pic>
      <p:pic>
        <p:nvPicPr>
          <p:cNvPr id="80" name="Picture 79" descr="GT_3_BraTS-GLI-02318-10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167850" y="10644505"/>
            <a:ext cx="11972290" cy="12929870"/>
          </a:xfrm>
          <a:prstGeom prst="rect">
            <a:avLst/>
          </a:prstGeom>
        </p:spPr>
      </p:pic>
      <p:pic>
        <p:nvPicPr>
          <p:cNvPr id="81" name="Picture 80" descr="MedNeXt_prediction_3_BraTS-GLI-02318-10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459545" y="10644505"/>
            <a:ext cx="12060555" cy="12929235"/>
          </a:xfrm>
          <a:prstGeom prst="rect">
            <a:avLst/>
          </a:prstGeom>
        </p:spPr>
      </p:pic>
      <p:pic>
        <p:nvPicPr>
          <p:cNvPr id="82" name="Picture 81" descr="nnUnet_prediction_3_BraTS-GLI-02318-10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946185" y="10644505"/>
            <a:ext cx="11604625" cy="12929235"/>
          </a:xfrm>
          <a:prstGeom prst="rect">
            <a:avLst/>
          </a:prstGeom>
        </p:spPr>
      </p:pic>
      <p:pic>
        <p:nvPicPr>
          <p:cNvPr id="83" name="Picture 82" descr="Unet++_prediction_3_BraTS-GLI-02318-10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929270" y="10644505"/>
            <a:ext cx="11527790" cy="12928600"/>
          </a:xfrm>
          <a:prstGeom prst="rect">
            <a:avLst/>
          </a:prstGeom>
        </p:spPr>
      </p:pic>
      <p:pic>
        <p:nvPicPr>
          <p:cNvPr id="84" name="Picture 83" descr="Unet3+_prediction_3_BraTS-GLI-02318-10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17435" y="10644505"/>
            <a:ext cx="11257280" cy="12929235"/>
          </a:xfrm>
          <a:prstGeom prst="rect">
            <a:avLst/>
          </a:prstGeom>
        </p:spPr>
      </p:pic>
      <p:pic>
        <p:nvPicPr>
          <p:cNvPr id="85" name="Picture 84" descr="proposed_prediction_3_BraTS-GLI-02318-10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207580" y="10528935"/>
            <a:ext cx="12769215" cy="13044805"/>
          </a:xfrm>
          <a:prstGeom prst="rect">
            <a:avLst/>
          </a:prstGeom>
        </p:spPr>
      </p:pic>
      <p:pic>
        <p:nvPicPr>
          <p:cNvPr id="86" name="Picture 85" descr="Latup_prediction_3_BraTS-GLI-02318-10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480150" y="10644505"/>
            <a:ext cx="13321665" cy="12928600"/>
          </a:xfrm>
          <a:prstGeom prst="rect">
            <a:avLst/>
          </a:prstGeom>
        </p:spPr>
      </p:pic>
      <p:pic>
        <p:nvPicPr>
          <p:cNvPr id="87" name="Picture 86" descr="Flair_4_BraTS-GLI-02379-10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-2704465" y="23988395"/>
            <a:ext cx="12209780" cy="13247370"/>
          </a:xfrm>
          <a:prstGeom prst="rect">
            <a:avLst/>
          </a:prstGeom>
        </p:spPr>
      </p:pic>
      <p:pic>
        <p:nvPicPr>
          <p:cNvPr id="88" name="Picture 87" descr="T1ce_4_BraTS-GLI-02379-10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08540" y="23988395"/>
            <a:ext cx="11875770" cy="13246735"/>
          </a:xfrm>
          <a:prstGeom prst="rect">
            <a:avLst/>
          </a:prstGeom>
        </p:spPr>
      </p:pic>
      <p:pic>
        <p:nvPicPr>
          <p:cNvPr id="89" name="Picture 88" descr="GT_4_BraTS-GLI-02379-10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167850" y="23988395"/>
            <a:ext cx="11972925" cy="13246100"/>
          </a:xfrm>
          <a:prstGeom prst="rect">
            <a:avLst/>
          </a:prstGeom>
        </p:spPr>
      </p:pic>
      <p:pic>
        <p:nvPicPr>
          <p:cNvPr id="90" name="Picture 89" descr="MedNeXt_prediction_4_BraTS-GLI-02379-10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459545" y="23988395"/>
            <a:ext cx="12315190" cy="13245465"/>
          </a:xfrm>
          <a:prstGeom prst="rect">
            <a:avLst/>
          </a:prstGeom>
        </p:spPr>
      </p:pic>
      <p:pic>
        <p:nvPicPr>
          <p:cNvPr id="91" name="Picture 90" descr="nnUnet_prediction_4_BraTS-GLI-02379-10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946185" y="23988395"/>
            <a:ext cx="11603990" cy="13245465"/>
          </a:xfrm>
          <a:prstGeom prst="rect">
            <a:avLst/>
          </a:prstGeom>
        </p:spPr>
      </p:pic>
      <p:pic>
        <p:nvPicPr>
          <p:cNvPr id="92" name="Picture 91" descr="Unet++_prediction_4_BraTS-GLI-02379-10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929270" y="23988395"/>
            <a:ext cx="11526520" cy="13245465"/>
          </a:xfrm>
          <a:prstGeom prst="rect">
            <a:avLst/>
          </a:prstGeom>
        </p:spPr>
      </p:pic>
      <p:pic>
        <p:nvPicPr>
          <p:cNvPr id="93" name="Picture 92" descr="Unet3+_prediction_4_BraTS-GLI-02379-10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917435" y="23988395"/>
            <a:ext cx="11257280" cy="13246100"/>
          </a:xfrm>
          <a:prstGeom prst="rect">
            <a:avLst/>
          </a:prstGeom>
        </p:spPr>
      </p:pic>
      <p:pic>
        <p:nvPicPr>
          <p:cNvPr id="95" name="Picture 94" descr="Latup_prediction_4_BraTS-GLI-02379-10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480150" y="23824565"/>
            <a:ext cx="13322300" cy="13409295"/>
          </a:xfrm>
          <a:prstGeom prst="rect">
            <a:avLst/>
          </a:prstGeom>
        </p:spPr>
      </p:pic>
      <p:pic>
        <p:nvPicPr>
          <p:cNvPr id="96" name="Picture 95" descr="proposed_prediction_4_BraTS-GLI-02379-10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207580" y="23988395"/>
            <a:ext cx="12769215" cy="13244830"/>
          </a:xfrm>
          <a:prstGeom prst="rect">
            <a:avLst/>
          </a:prstGeom>
        </p:spPr>
      </p:pic>
      <p:pic>
        <p:nvPicPr>
          <p:cNvPr id="97" name="Picture 96" descr="Flair_5_BraTS-GLI-02377-10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-2704465" y="37424360"/>
            <a:ext cx="12210415" cy="13508355"/>
          </a:xfrm>
          <a:prstGeom prst="rect">
            <a:avLst/>
          </a:prstGeom>
        </p:spPr>
      </p:pic>
      <p:pic>
        <p:nvPicPr>
          <p:cNvPr id="98" name="Picture 97" descr="T1ce_5_BraTS-GLI-02377-10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908540" y="37424360"/>
            <a:ext cx="11876405" cy="13413740"/>
          </a:xfrm>
          <a:prstGeom prst="rect">
            <a:avLst/>
          </a:prstGeom>
        </p:spPr>
      </p:pic>
      <p:pic>
        <p:nvPicPr>
          <p:cNvPr id="99" name="Picture 98" descr="GT_5_BraTS-GLI-02377-10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2167850" y="37424360"/>
            <a:ext cx="11972290" cy="13413105"/>
          </a:xfrm>
          <a:prstGeom prst="rect">
            <a:avLst/>
          </a:prstGeom>
        </p:spPr>
      </p:pic>
      <p:pic>
        <p:nvPicPr>
          <p:cNvPr id="100" name="Picture 99" descr="MedNeXt_prediction_5_BraTS-GLI-02377-10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4459545" y="37424360"/>
            <a:ext cx="12315825" cy="13413105"/>
          </a:xfrm>
          <a:prstGeom prst="rect">
            <a:avLst/>
          </a:prstGeom>
        </p:spPr>
      </p:pic>
      <p:pic>
        <p:nvPicPr>
          <p:cNvPr id="101" name="Picture 100" descr="nnUnet_prediction_5_BraTS-GLI-02377-10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6946185" y="37424360"/>
            <a:ext cx="11603990" cy="13413105"/>
          </a:xfrm>
          <a:prstGeom prst="rect">
            <a:avLst/>
          </a:prstGeom>
        </p:spPr>
      </p:pic>
      <p:pic>
        <p:nvPicPr>
          <p:cNvPr id="102" name="Picture 101" descr="Unet++_prediction_5_BraTS-GLI-02377-100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8929270" y="37424360"/>
            <a:ext cx="11526520" cy="13412470"/>
          </a:xfrm>
          <a:prstGeom prst="rect">
            <a:avLst/>
          </a:prstGeom>
        </p:spPr>
      </p:pic>
      <p:pic>
        <p:nvPicPr>
          <p:cNvPr id="103" name="Picture 102" descr="Unet3+_prediction_5_BraTS-GLI-02377-10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0917435" y="37235765"/>
            <a:ext cx="11257280" cy="13601065"/>
          </a:xfrm>
          <a:prstGeom prst="rect">
            <a:avLst/>
          </a:prstGeom>
        </p:spPr>
      </p:pic>
      <p:pic>
        <p:nvPicPr>
          <p:cNvPr id="104" name="Picture 103" descr="Latup_prediction_5_BraTS-GLI-02377-10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2480150" y="37424360"/>
            <a:ext cx="13321665" cy="13413105"/>
          </a:xfrm>
          <a:prstGeom prst="rect">
            <a:avLst/>
          </a:prstGeom>
        </p:spPr>
      </p:pic>
      <p:pic>
        <p:nvPicPr>
          <p:cNvPr id="105" name="Picture 104" descr="proposed_prediction_5_BraTS-GLI-02377-10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6207580" y="37424360"/>
            <a:ext cx="12769215" cy="13581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Presentation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 Wahaj Sajid Ali</cp:lastModifiedBy>
  <cp:revision>64</cp:revision>
  <dcterms:created xsi:type="dcterms:W3CDTF">2025-07-23T00:59:00Z</dcterms:created>
  <dcterms:modified xsi:type="dcterms:W3CDTF">2026-07-11T14:00:07Z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FA59724C9D5E4C2F9FEE3F6AABB21179_11</vt:lpwstr>
  </property>
  <property fmtid="{D5CDD505-2E9C-101B-9397-08002B2CF9AE}" pid="3" name="KSOProductBuildVer">
    <vt:lpwstr>2057-12.2.0.23206</vt:lpwstr>
  </property>
</Properties>
</file>