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26" userDrawn="1">
          <p15:clr>
            <a:srgbClr val="A4A3A4"/>
          </p15:clr>
        </p15:guide>
        <p15:guide id="2" pos="161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16126"/>
        <p:guide pos="161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030" y="8379285"/>
            <a:ext cx="38400180" cy="17825233"/>
          </a:xfrm>
        </p:spPr>
        <p:txBody>
          <a:bodyPr anchor="b"/>
          <a:lstStyle>
            <a:lvl1pPr algn="ctr">
              <a:defRPr sz="3359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030" y="26891928"/>
            <a:ext cx="38400180" cy="12361511"/>
          </a:xfrm>
        </p:spPr>
        <p:txBody>
          <a:bodyPr/>
          <a:lstStyle>
            <a:lvl1pPr marL="0" indent="0" algn="ctr">
              <a:buNone/>
              <a:defRPr sz="13440"/>
            </a:lvl1pPr>
            <a:lvl2pPr marL="2559685" indent="0" algn="ctr">
              <a:buNone/>
              <a:defRPr sz="11195"/>
            </a:lvl2pPr>
            <a:lvl3pPr marL="5120005" indent="0" algn="ctr">
              <a:buNone/>
              <a:defRPr sz="10080"/>
            </a:lvl3pPr>
            <a:lvl4pPr marL="7679690" indent="0" algn="ctr">
              <a:buNone/>
              <a:defRPr sz="8960"/>
            </a:lvl4pPr>
            <a:lvl5pPr marL="10240010" indent="0" algn="ctr">
              <a:buNone/>
              <a:defRPr sz="8960"/>
            </a:lvl5pPr>
            <a:lvl6pPr marL="12799695" indent="0" algn="ctr">
              <a:buNone/>
              <a:defRPr sz="8960"/>
            </a:lvl6pPr>
            <a:lvl7pPr marL="15360015" indent="0" algn="ctr">
              <a:buNone/>
              <a:defRPr sz="8960"/>
            </a:lvl7pPr>
            <a:lvl8pPr marL="17919700" indent="0" algn="ctr">
              <a:buNone/>
              <a:defRPr sz="8960"/>
            </a:lvl8pPr>
            <a:lvl9pPr marL="20479385" indent="0" algn="ctr">
              <a:buNone/>
              <a:defRPr sz="896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350" y="12764482"/>
            <a:ext cx="44160207" cy="21297831"/>
          </a:xfrm>
        </p:spPr>
        <p:txBody>
          <a:bodyPr anchor="b"/>
          <a:lstStyle>
            <a:lvl1pPr>
              <a:defRPr sz="3359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350" y="34263799"/>
            <a:ext cx="44160207" cy="11200026"/>
          </a:xfrm>
        </p:spPr>
        <p:txBody>
          <a:bodyPr/>
          <a:lstStyle>
            <a:lvl1pPr marL="0" indent="0">
              <a:buNone/>
              <a:defRPr sz="13440">
                <a:solidFill>
                  <a:schemeClr val="tx1">
                    <a:tint val="75000"/>
                  </a:schemeClr>
                </a:solidFill>
              </a:defRPr>
            </a:lvl1pPr>
            <a:lvl2pPr marL="2559685" indent="0">
              <a:buNone/>
              <a:defRPr sz="11195">
                <a:solidFill>
                  <a:schemeClr val="tx1">
                    <a:tint val="75000"/>
                  </a:schemeClr>
                </a:solidFill>
              </a:defRPr>
            </a:lvl2pPr>
            <a:lvl3pPr marL="5120005" indent="0">
              <a:buNone/>
              <a:defRPr sz="10080">
                <a:solidFill>
                  <a:schemeClr val="tx1">
                    <a:tint val="75000"/>
                  </a:schemeClr>
                </a:solidFill>
              </a:defRPr>
            </a:lvl3pPr>
            <a:lvl4pPr marL="767969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4pPr>
            <a:lvl5pPr marL="1024001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5pPr>
            <a:lvl6pPr marL="12799695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6pPr>
            <a:lvl7pPr marL="15360015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7pPr>
            <a:lvl8pPr marL="1791970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8pPr>
            <a:lvl9pPr marL="20479385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017" y="13629666"/>
            <a:ext cx="21760102" cy="3248601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0122" y="13629666"/>
            <a:ext cx="21760102" cy="3248601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685" y="2725933"/>
            <a:ext cx="44160207" cy="98963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6685" y="12551148"/>
            <a:ext cx="21660100" cy="6151124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59685" indent="0">
              <a:buNone/>
              <a:defRPr sz="11195" b="1"/>
            </a:lvl2pPr>
            <a:lvl3pPr marL="5120005" indent="0">
              <a:buNone/>
              <a:defRPr sz="10080" b="1"/>
            </a:lvl3pPr>
            <a:lvl4pPr marL="7679690" indent="0">
              <a:buNone/>
              <a:defRPr sz="8960" b="1"/>
            </a:lvl4pPr>
            <a:lvl5pPr marL="10240010" indent="0">
              <a:buNone/>
              <a:defRPr sz="8960" b="1"/>
            </a:lvl5pPr>
            <a:lvl6pPr marL="12799695" indent="0">
              <a:buNone/>
              <a:defRPr sz="8960" b="1"/>
            </a:lvl6pPr>
            <a:lvl7pPr marL="15360015" indent="0">
              <a:buNone/>
              <a:defRPr sz="8960" b="1"/>
            </a:lvl7pPr>
            <a:lvl8pPr marL="17919700" indent="0">
              <a:buNone/>
              <a:defRPr sz="8960" b="1"/>
            </a:lvl8pPr>
            <a:lvl9pPr marL="20479385" indent="0">
              <a:buNone/>
              <a:defRPr sz="896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6685" y="18702272"/>
            <a:ext cx="21660100" cy="2750822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0122" y="12551148"/>
            <a:ext cx="21766771" cy="6151124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59685" indent="0">
              <a:buNone/>
              <a:defRPr sz="11195" b="1"/>
            </a:lvl2pPr>
            <a:lvl3pPr marL="5120005" indent="0">
              <a:buNone/>
              <a:defRPr sz="10080" b="1"/>
            </a:lvl3pPr>
            <a:lvl4pPr marL="7679690" indent="0">
              <a:buNone/>
              <a:defRPr sz="8960" b="1"/>
            </a:lvl4pPr>
            <a:lvl5pPr marL="10240010" indent="0">
              <a:buNone/>
              <a:defRPr sz="8960" b="1"/>
            </a:lvl5pPr>
            <a:lvl6pPr marL="12799695" indent="0">
              <a:buNone/>
              <a:defRPr sz="8960" b="1"/>
            </a:lvl6pPr>
            <a:lvl7pPr marL="15360015" indent="0">
              <a:buNone/>
              <a:defRPr sz="8960" b="1"/>
            </a:lvl7pPr>
            <a:lvl8pPr marL="17919700" indent="0">
              <a:buNone/>
              <a:defRPr sz="8960" b="1"/>
            </a:lvl8pPr>
            <a:lvl9pPr marL="20479385" indent="0">
              <a:buNone/>
              <a:defRPr sz="896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0122" y="18702272"/>
            <a:ext cx="21766771" cy="2750822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685" y="3413342"/>
            <a:ext cx="16513409" cy="11946699"/>
          </a:xfrm>
        </p:spPr>
        <p:txBody>
          <a:bodyPr anchor="b"/>
          <a:lstStyle>
            <a:lvl1pPr>
              <a:defRPr sz="1791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6771" y="7371872"/>
            <a:ext cx="25920122" cy="36385283"/>
          </a:xfrm>
        </p:spPr>
        <p:txBody>
          <a:bodyPr/>
          <a:lstStyle>
            <a:lvl1pPr>
              <a:defRPr sz="17915"/>
            </a:lvl1pPr>
            <a:lvl2pPr>
              <a:defRPr sz="15680"/>
            </a:lvl2pPr>
            <a:lvl3pPr>
              <a:defRPr sz="13440"/>
            </a:lvl3pPr>
            <a:lvl4pPr>
              <a:defRPr sz="11195"/>
            </a:lvl4pPr>
            <a:lvl5pPr>
              <a:defRPr sz="11195"/>
            </a:lvl5pPr>
            <a:lvl6pPr>
              <a:defRPr sz="11195"/>
            </a:lvl6pPr>
            <a:lvl7pPr>
              <a:defRPr sz="11195"/>
            </a:lvl7pPr>
            <a:lvl8pPr>
              <a:defRPr sz="11195"/>
            </a:lvl8pPr>
            <a:lvl9pPr>
              <a:defRPr sz="1119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6685" y="15360041"/>
            <a:ext cx="16513409" cy="28456376"/>
          </a:xfrm>
        </p:spPr>
        <p:txBody>
          <a:bodyPr/>
          <a:lstStyle>
            <a:lvl1pPr marL="0" indent="0">
              <a:buNone/>
              <a:defRPr sz="8960"/>
            </a:lvl1pPr>
            <a:lvl2pPr marL="2559685" indent="0">
              <a:buNone/>
              <a:defRPr sz="7840"/>
            </a:lvl2pPr>
            <a:lvl3pPr marL="5120005" indent="0">
              <a:buNone/>
              <a:defRPr sz="6720"/>
            </a:lvl3pPr>
            <a:lvl4pPr marL="7679690" indent="0">
              <a:buNone/>
              <a:defRPr sz="5600"/>
            </a:lvl4pPr>
            <a:lvl5pPr marL="10240010" indent="0">
              <a:buNone/>
              <a:defRPr sz="5600"/>
            </a:lvl5pPr>
            <a:lvl6pPr marL="12799695" indent="0">
              <a:buNone/>
              <a:defRPr sz="5600"/>
            </a:lvl6pPr>
            <a:lvl7pPr marL="15360015" indent="0">
              <a:buNone/>
              <a:defRPr sz="5600"/>
            </a:lvl7pPr>
            <a:lvl8pPr marL="17919700" indent="0">
              <a:buNone/>
              <a:defRPr sz="5600"/>
            </a:lvl8pPr>
            <a:lvl9pPr marL="20479385" indent="0">
              <a:buNone/>
              <a:defRPr sz="5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685" y="3413342"/>
            <a:ext cx="16513409" cy="11946699"/>
          </a:xfrm>
        </p:spPr>
        <p:txBody>
          <a:bodyPr anchor="b"/>
          <a:lstStyle>
            <a:lvl1pPr>
              <a:defRPr sz="1791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766771" y="7371872"/>
            <a:ext cx="25920122" cy="36385283"/>
          </a:xfrm>
        </p:spPr>
        <p:txBody>
          <a:bodyPr/>
          <a:lstStyle>
            <a:lvl1pPr marL="0" indent="0">
              <a:buNone/>
              <a:defRPr sz="17915"/>
            </a:lvl1pPr>
            <a:lvl2pPr marL="2559685" indent="0">
              <a:buNone/>
              <a:defRPr sz="15680"/>
            </a:lvl2pPr>
            <a:lvl3pPr marL="5120005" indent="0">
              <a:buNone/>
              <a:defRPr sz="13440"/>
            </a:lvl3pPr>
            <a:lvl4pPr marL="7679690" indent="0">
              <a:buNone/>
              <a:defRPr sz="11195"/>
            </a:lvl4pPr>
            <a:lvl5pPr marL="10240010" indent="0">
              <a:buNone/>
              <a:defRPr sz="11195"/>
            </a:lvl5pPr>
            <a:lvl6pPr marL="12799695" indent="0">
              <a:buNone/>
              <a:defRPr sz="11195"/>
            </a:lvl6pPr>
            <a:lvl7pPr marL="15360015" indent="0">
              <a:buNone/>
              <a:defRPr sz="11195"/>
            </a:lvl7pPr>
            <a:lvl8pPr marL="17919700" indent="0">
              <a:buNone/>
              <a:defRPr sz="11195"/>
            </a:lvl8pPr>
            <a:lvl9pPr marL="20479385" indent="0">
              <a:buNone/>
              <a:defRPr sz="1119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6685" y="15360041"/>
            <a:ext cx="16513409" cy="28456376"/>
          </a:xfrm>
        </p:spPr>
        <p:txBody>
          <a:bodyPr/>
          <a:lstStyle>
            <a:lvl1pPr marL="0" indent="0">
              <a:buNone/>
              <a:defRPr sz="8960"/>
            </a:lvl1pPr>
            <a:lvl2pPr marL="2559685" indent="0">
              <a:buNone/>
              <a:defRPr sz="7840"/>
            </a:lvl2pPr>
            <a:lvl3pPr marL="5120005" indent="0">
              <a:buNone/>
              <a:defRPr sz="6720"/>
            </a:lvl3pPr>
            <a:lvl4pPr marL="7679690" indent="0">
              <a:buNone/>
              <a:defRPr sz="5600"/>
            </a:lvl4pPr>
            <a:lvl5pPr marL="10240010" indent="0">
              <a:buNone/>
              <a:defRPr sz="5600"/>
            </a:lvl5pPr>
            <a:lvl6pPr marL="12799695" indent="0">
              <a:buNone/>
              <a:defRPr sz="5600"/>
            </a:lvl6pPr>
            <a:lvl7pPr marL="15360015" indent="0">
              <a:buNone/>
              <a:defRPr sz="5600"/>
            </a:lvl7pPr>
            <a:lvl8pPr marL="17919700" indent="0">
              <a:buNone/>
              <a:defRPr sz="5600"/>
            </a:lvl8pPr>
            <a:lvl9pPr marL="20479385" indent="0">
              <a:buNone/>
              <a:defRPr sz="5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0172" y="2725933"/>
            <a:ext cx="11040052" cy="433897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017" y="2725933"/>
            <a:ext cx="32480152" cy="433897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017" y="2725933"/>
            <a:ext cx="44160207" cy="9896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017" y="13629666"/>
            <a:ext cx="44160207" cy="32486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017" y="47454942"/>
            <a:ext cx="11520054" cy="2725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0080" y="47454942"/>
            <a:ext cx="17280081" cy="2725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0170" y="47454942"/>
            <a:ext cx="11520054" cy="2725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20005" rtl="0" eaLnBrk="1" latinLnBrk="0" hangingPunct="1">
        <a:lnSpc>
          <a:spcPct val="90000"/>
        </a:lnSpc>
        <a:spcBef>
          <a:spcPct val="0"/>
        </a:spcBef>
        <a:buNone/>
        <a:defRPr sz="24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0160" indent="-1280160" algn="l" defTabSz="5120005" rtl="0" eaLnBrk="1" latinLnBrk="0" hangingPunct="1">
        <a:lnSpc>
          <a:spcPct val="90000"/>
        </a:lnSpc>
        <a:spcBef>
          <a:spcPts val="5610"/>
        </a:spcBef>
        <a:buFont typeface="Arial" panose="020B0604020202020204" pitchFamily="34" charset="0"/>
        <a:buChar char="•"/>
        <a:defRPr sz="15680" kern="1200">
          <a:solidFill>
            <a:schemeClr val="tx1"/>
          </a:solidFill>
          <a:latin typeface="+mn-lt"/>
          <a:ea typeface="+mn-ea"/>
          <a:cs typeface="+mn-cs"/>
        </a:defRPr>
      </a:lvl1pPr>
      <a:lvl2pPr marL="3839845" indent="-1280160" algn="l" defTabSz="5120005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2pPr>
      <a:lvl3pPr marL="6400165" indent="-1280160" algn="l" defTabSz="5120005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1195" kern="1200">
          <a:solidFill>
            <a:schemeClr val="tx1"/>
          </a:solidFill>
          <a:latin typeface="+mn-lt"/>
          <a:ea typeface="+mn-ea"/>
          <a:cs typeface="+mn-cs"/>
        </a:defRPr>
      </a:lvl3pPr>
      <a:lvl4pPr marL="8959850" indent="-1280160" algn="l" defTabSz="5120005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1519535" indent="-1280160" algn="l" defTabSz="5120005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4079855" indent="-1280160" algn="l" defTabSz="5120005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6640175" indent="-1280160" algn="l" defTabSz="5120005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9199860" indent="-1280160" algn="l" defTabSz="5120005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1759545" indent="-1280160" algn="l" defTabSz="5120005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559685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5120005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3pPr>
      <a:lvl4pPr marL="7679690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0240010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2799695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5360015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7919700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0479385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6" Type="http://schemas.openxmlformats.org/officeDocument/2006/relationships/slideLayout" Target="../slideLayouts/slideLayout1.xml"/><Relationship Id="rId45" Type="http://schemas.openxmlformats.org/officeDocument/2006/relationships/image" Target="../media/image45.png"/><Relationship Id="rId44" Type="http://schemas.openxmlformats.org/officeDocument/2006/relationships/image" Target="../media/image44.png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277600" y="2008854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1688509" y="1910893"/>
            <a:ext cx="3645075" cy="27979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 sz="685"/>
          </a:p>
        </p:txBody>
      </p:sp>
      <p:sp>
        <p:nvSpPr>
          <p:cNvPr id="5" name="Rectangles 4"/>
          <p:cNvSpPr/>
          <p:nvPr/>
        </p:nvSpPr>
        <p:spPr>
          <a:xfrm>
            <a:off x="1018558" y="205754"/>
            <a:ext cx="10158847" cy="64465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68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T1c</a:t>
            </a:r>
            <a:endParaRPr lang="en-GB" altLang="en-US" sz="685"/>
          </a:p>
        </p:txBody>
      </p:sp>
      <p:sp>
        <p:nvSpPr>
          <p:cNvPr id="6" name="Rectangles 5"/>
          <p:cNvSpPr/>
          <p:nvPr/>
        </p:nvSpPr>
        <p:spPr>
          <a:xfrm>
            <a:off x="1018616" y="281140"/>
            <a:ext cx="10146753" cy="4454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68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Latup</a:t>
            </a:r>
            <a:endParaRPr lang="en-GB" altLang="en-US" sz="685"/>
          </a:p>
        </p:txBody>
      </p:sp>
      <p:cxnSp>
        <p:nvCxnSpPr>
          <p:cNvPr id="7" name="Straight Connector 6"/>
          <p:cNvCxnSpPr/>
          <p:nvPr/>
        </p:nvCxnSpPr>
        <p:spPr>
          <a:xfrm>
            <a:off x="3269738" y="283199"/>
            <a:ext cx="7256" cy="63515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385018" y="269985"/>
            <a:ext cx="12785" cy="63495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524702" y="265116"/>
            <a:ext cx="4204" cy="63543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154227" y="273824"/>
            <a:ext cx="7429" cy="63456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1017959" y="1737076"/>
            <a:ext cx="10161841" cy="287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6606021" y="280435"/>
            <a:ext cx="4204" cy="63543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7687340" y="265116"/>
            <a:ext cx="4204" cy="63543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8744068" y="273812"/>
            <a:ext cx="4204" cy="63543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1017959" y="2960528"/>
            <a:ext cx="10156082" cy="3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1006441" y="4146892"/>
            <a:ext cx="10179118" cy="375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1017959" y="5385836"/>
            <a:ext cx="10144564" cy="17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Text Box 44"/>
          <p:cNvSpPr txBox="1"/>
          <p:nvPr/>
        </p:nvSpPr>
        <p:spPr>
          <a:xfrm>
            <a:off x="1210310" y="329565"/>
            <a:ext cx="742950" cy="314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50" b="1">
                <a:latin typeface="Times New Roman" panose="02020603050405020304" charset="0"/>
                <a:cs typeface="Times New Roman" panose="02020603050405020304" charset="0"/>
              </a:rPr>
              <a:t>Flair</a:t>
            </a:r>
            <a:endParaRPr lang="en-US" altLang="en-GB" sz="145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Text Box 45"/>
          <p:cNvSpPr txBox="1"/>
          <p:nvPr/>
        </p:nvSpPr>
        <p:spPr>
          <a:xfrm>
            <a:off x="2446655" y="360045"/>
            <a:ext cx="596265" cy="314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50" b="1">
                <a:latin typeface="Times New Roman" panose="02020603050405020304" charset="0"/>
                <a:cs typeface="Times New Roman" panose="02020603050405020304" charset="0"/>
              </a:rPr>
              <a:t>T1ce</a:t>
            </a:r>
            <a:endParaRPr lang="en-US" altLang="en-GB" sz="145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" name="Text Box 46"/>
          <p:cNvSpPr txBox="1"/>
          <p:nvPr/>
        </p:nvSpPr>
        <p:spPr>
          <a:xfrm>
            <a:off x="3339465" y="245110"/>
            <a:ext cx="852805" cy="537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1450" b="1">
                <a:latin typeface="Times New Roman" panose="02020603050405020304" charset="0"/>
                <a:cs typeface="Times New Roman" panose="02020603050405020304" charset="0"/>
              </a:rPr>
              <a:t>Groud Truth</a:t>
            </a:r>
            <a:endParaRPr lang="en-US" altLang="en-GB" sz="145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8" name="Text Box 47"/>
          <p:cNvSpPr txBox="1"/>
          <p:nvPr/>
        </p:nvSpPr>
        <p:spPr>
          <a:xfrm>
            <a:off x="4430680" y="360154"/>
            <a:ext cx="1021655" cy="245508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540" b="1">
                <a:latin typeface="Times New Roman" panose="02020603050405020304" charset="0"/>
                <a:cs typeface="Times New Roman" panose="02020603050405020304" charset="0"/>
              </a:rPr>
              <a:t>MedNeXt</a:t>
            </a:r>
            <a:endParaRPr lang="en-US" altLang="en-GB" sz="154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Text Box 48"/>
          <p:cNvSpPr txBox="1"/>
          <p:nvPr/>
        </p:nvSpPr>
        <p:spPr>
          <a:xfrm>
            <a:off x="5702935" y="367665"/>
            <a:ext cx="772160" cy="314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50" b="1">
                <a:latin typeface="Times New Roman" panose="02020603050405020304" charset="0"/>
                <a:cs typeface="Times New Roman" panose="02020603050405020304" charset="0"/>
              </a:rPr>
              <a:t>nnUnet</a:t>
            </a:r>
            <a:endParaRPr lang="en-US" altLang="en-GB" sz="145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Text Box 49"/>
          <p:cNvSpPr txBox="1"/>
          <p:nvPr/>
        </p:nvSpPr>
        <p:spPr>
          <a:xfrm>
            <a:off x="6743700" y="360045"/>
            <a:ext cx="794385" cy="314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50" b="1">
                <a:latin typeface="Times New Roman" panose="02020603050405020304" charset="0"/>
                <a:cs typeface="Times New Roman" panose="02020603050405020304" charset="0"/>
              </a:rPr>
              <a:t>Unet++</a:t>
            </a:r>
            <a:endParaRPr lang="en-US" altLang="en-GB" sz="145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Text Box 50"/>
          <p:cNvSpPr txBox="1"/>
          <p:nvPr/>
        </p:nvSpPr>
        <p:spPr>
          <a:xfrm>
            <a:off x="7764145" y="374015"/>
            <a:ext cx="854075" cy="314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50" b="1">
                <a:latin typeface="Times New Roman" panose="02020603050405020304" charset="0"/>
                <a:cs typeface="Times New Roman" panose="02020603050405020304" charset="0"/>
              </a:rPr>
              <a:t>Unet3+</a:t>
            </a:r>
            <a:endParaRPr lang="en-US" altLang="en-GB" sz="145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" name="Text Box 51"/>
          <p:cNvSpPr txBox="1"/>
          <p:nvPr/>
        </p:nvSpPr>
        <p:spPr>
          <a:xfrm>
            <a:off x="8948420" y="360045"/>
            <a:ext cx="694055" cy="314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50" b="1">
                <a:latin typeface="Times New Roman" panose="02020603050405020304" charset="0"/>
                <a:cs typeface="Times New Roman" panose="02020603050405020304" charset="0"/>
              </a:rPr>
              <a:t>Latup</a:t>
            </a:r>
            <a:endParaRPr lang="en-US" altLang="en-GB" sz="145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>
            <a:off x="9982494" y="205740"/>
            <a:ext cx="10769" cy="64354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Text Box 53"/>
          <p:cNvSpPr txBox="1"/>
          <p:nvPr/>
        </p:nvSpPr>
        <p:spPr>
          <a:xfrm>
            <a:off x="10114280" y="374015"/>
            <a:ext cx="932815" cy="314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50" b="1">
                <a:latin typeface="Times New Roman" panose="02020603050405020304" charset="0"/>
                <a:cs typeface="Times New Roman" panose="02020603050405020304" charset="0"/>
              </a:rPr>
              <a:t>Proposed</a:t>
            </a:r>
            <a:endParaRPr lang="en-US" altLang="en-GB" sz="145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5" name="Picture 54" descr="Latup_Flair_BraTS-GLI-02478-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317" y="740193"/>
            <a:ext cx="1115355" cy="1018200"/>
          </a:xfrm>
          <a:prstGeom prst="rect">
            <a:avLst/>
          </a:prstGeom>
        </p:spPr>
      </p:pic>
      <p:pic>
        <p:nvPicPr>
          <p:cNvPr id="56" name="Picture 55" descr="Latup_T1ce_BraTS-GLI-02478-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42" y="740193"/>
            <a:ext cx="1077057" cy="985892"/>
          </a:xfrm>
          <a:prstGeom prst="rect">
            <a:avLst/>
          </a:prstGeom>
        </p:spPr>
      </p:pic>
      <p:pic>
        <p:nvPicPr>
          <p:cNvPr id="57" name="Picture 56" descr="Latup_GT_BraTS-GLI-02478-1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084" y="745492"/>
            <a:ext cx="1085811" cy="990499"/>
          </a:xfrm>
          <a:prstGeom prst="rect">
            <a:avLst/>
          </a:prstGeom>
        </p:spPr>
      </p:pic>
      <p:pic>
        <p:nvPicPr>
          <p:cNvPr id="58" name="Picture 57" descr="Latup_prediction_BraTS-GLI-02478-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8029" y="734953"/>
            <a:ext cx="1208191" cy="990384"/>
          </a:xfrm>
          <a:prstGeom prst="rect">
            <a:avLst/>
          </a:prstGeom>
        </p:spPr>
      </p:pic>
      <p:pic>
        <p:nvPicPr>
          <p:cNvPr id="60" name="Picture 59" descr="MedNeXt_prediction_BraTS-GLI-02478-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2863" y="749120"/>
            <a:ext cx="1116910" cy="981112"/>
          </a:xfrm>
          <a:prstGeom prst="rect">
            <a:avLst/>
          </a:prstGeom>
        </p:spPr>
      </p:pic>
      <p:pic>
        <p:nvPicPr>
          <p:cNvPr id="61" name="Picture 60" descr="nnUnet_prediction_BraTS-GLI-02478-1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5323" y="740193"/>
            <a:ext cx="1066518" cy="984279"/>
          </a:xfrm>
          <a:prstGeom prst="rect">
            <a:avLst/>
          </a:prstGeom>
        </p:spPr>
      </p:pic>
      <p:pic>
        <p:nvPicPr>
          <p:cNvPr id="62" name="Picture 61" descr="Unet++_prediction_BraTS-GLI-02478-10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2113" y="750445"/>
            <a:ext cx="1045440" cy="974028"/>
          </a:xfrm>
          <a:prstGeom prst="rect">
            <a:avLst/>
          </a:prstGeom>
        </p:spPr>
      </p:pic>
      <p:pic>
        <p:nvPicPr>
          <p:cNvPr id="63" name="Picture 62" descr="Unet3+_prediction_BraTS-GLI-02478-10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6578" y="750445"/>
            <a:ext cx="1039105" cy="962222"/>
          </a:xfrm>
          <a:prstGeom prst="rect">
            <a:avLst/>
          </a:prstGeom>
        </p:spPr>
      </p:pic>
      <p:pic>
        <p:nvPicPr>
          <p:cNvPr id="64" name="Picture 63" descr="proposed_prediction_BraTS-GLI-02478-10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3020" y="749638"/>
            <a:ext cx="1158029" cy="962510"/>
          </a:xfrm>
          <a:prstGeom prst="rect">
            <a:avLst/>
          </a:prstGeom>
        </p:spPr>
      </p:pic>
      <p:pic>
        <p:nvPicPr>
          <p:cNvPr id="65" name="Picture 64" descr="Flair_2_BraTS-GLI-02478-10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2323" y="1782524"/>
            <a:ext cx="1107407" cy="1163040"/>
          </a:xfrm>
          <a:prstGeom prst="rect">
            <a:avLst/>
          </a:prstGeom>
        </p:spPr>
      </p:pic>
      <p:pic>
        <p:nvPicPr>
          <p:cNvPr id="66" name="Picture 65" descr="T1ce_2_BraTS-GLI-02478-10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6185" y="1785634"/>
            <a:ext cx="1080110" cy="1159296"/>
          </a:xfrm>
          <a:prstGeom prst="rect">
            <a:avLst/>
          </a:prstGeom>
        </p:spPr>
      </p:pic>
      <p:pic>
        <p:nvPicPr>
          <p:cNvPr id="67" name="Picture 66" descr="Mask_2_BraTS-GLI-02478-10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79561" y="1772676"/>
            <a:ext cx="1095371" cy="1178359"/>
          </a:xfrm>
          <a:prstGeom prst="rect">
            <a:avLst/>
          </a:prstGeom>
        </p:spPr>
      </p:pic>
      <p:pic>
        <p:nvPicPr>
          <p:cNvPr id="68" name="Picture 67" descr="MedNeXt_prediction_2_BraTS-GLI-02478-10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97853" y="1766974"/>
            <a:ext cx="1098884" cy="1184521"/>
          </a:xfrm>
          <a:prstGeom prst="rect">
            <a:avLst/>
          </a:prstGeom>
        </p:spPr>
      </p:pic>
      <p:pic>
        <p:nvPicPr>
          <p:cNvPr id="69" name="Picture 68" descr="nnUnet_prediction_2_BraTS-GLI-02478-10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33883" y="1772676"/>
            <a:ext cx="1053848" cy="1170181"/>
          </a:xfrm>
          <a:prstGeom prst="rect">
            <a:avLst/>
          </a:prstGeom>
        </p:spPr>
      </p:pic>
      <p:pic>
        <p:nvPicPr>
          <p:cNvPr id="70" name="Picture 69" descr="Unet++_prediction_2_BraTS-GLI-02478-10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1134" y="1768356"/>
            <a:ext cx="1054827" cy="1177150"/>
          </a:xfrm>
          <a:prstGeom prst="rect">
            <a:avLst/>
          </a:prstGeom>
        </p:spPr>
      </p:pic>
      <p:pic>
        <p:nvPicPr>
          <p:cNvPr id="71" name="Picture 70" descr="Unet3+_prediction_2_BraTS-GLI-02478-10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09363" y="1766974"/>
            <a:ext cx="1021022" cy="1178474"/>
          </a:xfrm>
          <a:prstGeom prst="rect">
            <a:avLst/>
          </a:prstGeom>
        </p:spPr>
      </p:pic>
      <p:pic>
        <p:nvPicPr>
          <p:cNvPr id="72" name="Picture 71" descr="latup_prediction_2_BraTS-GLI-02478-10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58029" y="1753671"/>
            <a:ext cx="1216081" cy="1191835"/>
          </a:xfrm>
          <a:prstGeom prst="rect">
            <a:avLst/>
          </a:prstGeom>
        </p:spPr>
      </p:pic>
      <p:pic>
        <p:nvPicPr>
          <p:cNvPr id="73" name="Picture 72" descr="proposed_prediction_2_BraTS-GLI-02478-10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03020" y="1765880"/>
            <a:ext cx="1158087" cy="1176919"/>
          </a:xfrm>
          <a:prstGeom prst="rect">
            <a:avLst/>
          </a:prstGeom>
        </p:spPr>
      </p:pic>
      <p:pic>
        <p:nvPicPr>
          <p:cNvPr id="74" name="Picture 73" descr="Flair_3_BraTS-GLI-02318-10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2323" y="2974244"/>
            <a:ext cx="1107465" cy="1195348"/>
          </a:xfrm>
          <a:prstGeom prst="rect">
            <a:avLst/>
          </a:prstGeom>
        </p:spPr>
      </p:pic>
      <p:pic>
        <p:nvPicPr>
          <p:cNvPr id="75" name="Picture 74" descr="T1ce_3_BraTS-GLI-02318-10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76242" y="2974244"/>
            <a:ext cx="1077115" cy="1172715"/>
          </a:xfrm>
          <a:prstGeom prst="rect">
            <a:avLst/>
          </a:prstGeom>
        </p:spPr>
      </p:pic>
      <p:pic>
        <p:nvPicPr>
          <p:cNvPr id="80" name="Picture 79" descr="GT_3_BraTS-GLI-02318-10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88084" y="2974244"/>
            <a:ext cx="1085811" cy="1172657"/>
          </a:xfrm>
          <a:prstGeom prst="rect">
            <a:avLst/>
          </a:prstGeom>
        </p:spPr>
      </p:pic>
      <p:pic>
        <p:nvPicPr>
          <p:cNvPr id="81" name="Picture 80" descr="MedNeXt_prediction_3_BraTS-GLI-02318-10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02863" y="2974244"/>
            <a:ext cx="1093816" cy="1172600"/>
          </a:xfrm>
          <a:prstGeom prst="rect">
            <a:avLst/>
          </a:prstGeom>
        </p:spPr>
      </p:pic>
      <p:pic>
        <p:nvPicPr>
          <p:cNvPr id="82" name="Picture 81" descr="nnUnet_prediction_3_BraTS-GLI-02318-10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35323" y="2974244"/>
            <a:ext cx="1052466" cy="1172600"/>
          </a:xfrm>
          <a:prstGeom prst="rect">
            <a:avLst/>
          </a:prstGeom>
        </p:spPr>
      </p:pic>
      <p:pic>
        <p:nvPicPr>
          <p:cNvPr id="83" name="Picture 82" descr="Unet++_prediction_3_BraTS-GLI-02318-10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22113" y="2974244"/>
            <a:ext cx="1045498" cy="1172542"/>
          </a:xfrm>
          <a:prstGeom prst="rect">
            <a:avLst/>
          </a:prstGeom>
        </p:spPr>
      </p:pic>
      <p:pic>
        <p:nvPicPr>
          <p:cNvPr id="84" name="Picture 83" descr="Unet3+_prediction_3_BraTS-GLI-02318-10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09363" y="2974244"/>
            <a:ext cx="1020964" cy="1172600"/>
          </a:xfrm>
          <a:prstGeom prst="rect">
            <a:avLst/>
          </a:prstGeom>
        </p:spPr>
      </p:pic>
      <p:pic>
        <p:nvPicPr>
          <p:cNvPr id="85" name="Picture 84" descr="proposed_prediction_3_BraTS-GLI-02318-10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03020" y="2963762"/>
            <a:ext cx="1158087" cy="1183081"/>
          </a:xfrm>
          <a:prstGeom prst="rect">
            <a:avLst/>
          </a:prstGeom>
        </p:spPr>
      </p:pic>
      <p:pic>
        <p:nvPicPr>
          <p:cNvPr id="86" name="Picture 85" descr="Latup_prediction_3_BraTS-GLI-02318-10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58029" y="2974244"/>
            <a:ext cx="1208191" cy="1172542"/>
          </a:xfrm>
          <a:prstGeom prst="rect">
            <a:avLst/>
          </a:prstGeom>
        </p:spPr>
      </p:pic>
      <p:pic>
        <p:nvPicPr>
          <p:cNvPr id="87" name="Picture 86" descr="Flair_4_BraTS-GLI-02379-10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32323" y="4184450"/>
            <a:ext cx="1107350" cy="1201453"/>
          </a:xfrm>
          <a:prstGeom prst="rect">
            <a:avLst/>
          </a:prstGeom>
        </p:spPr>
      </p:pic>
      <p:pic>
        <p:nvPicPr>
          <p:cNvPr id="88" name="Picture 87" descr="T1ce_4_BraTS-GLI-02379-10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176242" y="4184450"/>
            <a:ext cx="1077057" cy="1201395"/>
          </a:xfrm>
          <a:prstGeom prst="rect">
            <a:avLst/>
          </a:prstGeom>
        </p:spPr>
      </p:pic>
      <p:pic>
        <p:nvPicPr>
          <p:cNvPr id="89" name="Picture 88" descr="GT_4_BraTS-GLI-02379-101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288084" y="4184450"/>
            <a:ext cx="1085869" cy="1201338"/>
          </a:xfrm>
          <a:prstGeom prst="rect">
            <a:avLst/>
          </a:prstGeom>
        </p:spPr>
      </p:pic>
      <p:pic>
        <p:nvPicPr>
          <p:cNvPr id="90" name="Picture 89" descr="MedNeXt_prediction_4_BraTS-GLI-02379-10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402863" y="4184450"/>
            <a:ext cx="1116910" cy="1201280"/>
          </a:xfrm>
          <a:prstGeom prst="rect">
            <a:avLst/>
          </a:prstGeom>
        </p:spPr>
      </p:pic>
      <p:pic>
        <p:nvPicPr>
          <p:cNvPr id="91" name="Picture 90" descr="nnUnet_prediction_4_BraTS-GLI-02379-101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535323" y="4184450"/>
            <a:ext cx="1052409" cy="1201280"/>
          </a:xfrm>
          <a:prstGeom prst="rect">
            <a:avLst/>
          </a:prstGeom>
        </p:spPr>
      </p:pic>
      <p:pic>
        <p:nvPicPr>
          <p:cNvPr id="92" name="Picture 91" descr="Unet++_prediction_4_BraTS-GLI-02379-10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22113" y="4184450"/>
            <a:ext cx="1045382" cy="1201280"/>
          </a:xfrm>
          <a:prstGeom prst="rect">
            <a:avLst/>
          </a:prstGeom>
        </p:spPr>
      </p:pic>
      <p:pic>
        <p:nvPicPr>
          <p:cNvPr id="93" name="Picture 92" descr="Unet3+_prediction_4_BraTS-GLI-02379-101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709363" y="4184450"/>
            <a:ext cx="1020964" cy="1201338"/>
          </a:xfrm>
          <a:prstGeom prst="rect">
            <a:avLst/>
          </a:prstGeom>
        </p:spPr>
      </p:pic>
      <p:pic>
        <p:nvPicPr>
          <p:cNvPr id="95" name="Picture 94" descr="Latup_prediction_4_BraTS-GLI-02379-101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58029" y="4169592"/>
            <a:ext cx="1208248" cy="1216138"/>
          </a:xfrm>
          <a:prstGeom prst="rect">
            <a:avLst/>
          </a:prstGeom>
        </p:spPr>
      </p:pic>
      <p:pic>
        <p:nvPicPr>
          <p:cNvPr id="96" name="Picture 95" descr="proposed_prediction_4_BraTS-GLI-02379-101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003020" y="4184450"/>
            <a:ext cx="1158087" cy="1201222"/>
          </a:xfrm>
          <a:prstGeom prst="rect">
            <a:avLst/>
          </a:prstGeom>
        </p:spPr>
      </p:pic>
      <p:pic>
        <p:nvPicPr>
          <p:cNvPr id="97" name="Picture 96" descr="Flair_5_BraTS-GLI-02377-100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32323" y="5403007"/>
            <a:ext cx="1107407" cy="1225122"/>
          </a:xfrm>
          <a:prstGeom prst="rect">
            <a:avLst/>
          </a:prstGeom>
        </p:spPr>
      </p:pic>
      <p:pic>
        <p:nvPicPr>
          <p:cNvPr id="98" name="Picture 97" descr="T1ce_5_BraTS-GLI-02377-10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176242" y="5403007"/>
            <a:ext cx="1077115" cy="1216541"/>
          </a:xfrm>
          <a:prstGeom prst="rect">
            <a:avLst/>
          </a:prstGeom>
        </p:spPr>
      </p:pic>
      <p:pic>
        <p:nvPicPr>
          <p:cNvPr id="99" name="Picture 98" descr="GT_5_BraTS-GLI-02377-100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288084" y="5403007"/>
            <a:ext cx="1085811" cy="1216484"/>
          </a:xfrm>
          <a:prstGeom prst="rect">
            <a:avLst/>
          </a:prstGeom>
        </p:spPr>
      </p:pic>
      <p:pic>
        <p:nvPicPr>
          <p:cNvPr id="100" name="Picture 99" descr="MedNeXt_prediction_5_BraTS-GLI-02377-10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402863" y="5403007"/>
            <a:ext cx="1116967" cy="1216484"/>
          </a:xfrm>
          <a:prstGeom prst="rect">
            <a:avLst/>
          </a:prstGeom>
        </p:spPr>
      </p:pic>
      <p:pic>
        <p:nvPicPr>
          <p:cNvPr id="101" name="Picture 100" descr="nnUnet_prediction_5_BraTS-GLI-02377-100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535323" y="5403007"/>
            <a:ext cx="1052409" cy="1216484"/>
          </a:xfrm>
          <a:prstGeom prst="rect">
            <a:avLst/>
          </a:prstGeom>
        </p:spPr>
      </p:pic>
      <p:pic>
        <p:nvPicPr>
          <p:cNvPr id="102" name="Picture 101" descr="Unet++_prediction_5_BraTS-GLI-02377-100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622113" y="5403007"/>
            <a:ext cx="1045382" cy="1216426"/>
          </a:xfrm>
          <a:prstGeom prst="rect">
            <a:avLst/>
          </a:prstGeom>
        </p:spPr>
      </p:pic>
      <p:pic>
        <p:nvPicPr>
          <p:cNvPr id="103" name="Picture 102" descr="Unet3+_prediction_5_BraTS-GLI-02377-100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709363" y="5385903"/>
            <a:ext cx="1020964" cy="1233531"/>
          </a:xfrm>
          <a:prstGeom prst="rect">
            <a:avLst/>
          </a:prstGeom>
        </p:spPr>
      </p:pic>
      <p:pic>
        <p:nvPicPr>
          <p:cNvPr id="104" name="Picture 103" descr="Latup_prediction_5_BraTS-GLI-02377-100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758029" y="5403007"/>
            <a:ext cx="1208191" cy="1216484"/>
          </a:xfrm>
          <a:prstGeom prst="rect">
            <a:avLst/>
          </a:prstGeom>
        </p:spPr>
      </p:pic>
      <p:pic>
        <p:nvPicPr>
          <p:cNvPr id="105" name="Picture 104" descr="proposed_prediction_5_BraTS-GLI-02377-100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003020" y="5403007"/>
            <a:ext cx="1158087" cy="12317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WPS Presentation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M Wahaj Sajid Ali</cp:lastModifiedBy>
  <cp:revision>65</cp:revision>
  <dcterms:created xsi:type="dcterms:W3CDTF">2025-07-23T00:59:00Z</dcterms:created>
  <dcterms:modified xsi:type="dcterms:W3CDTF">2026-07-12T03:59:06Z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FA59724C9D5E4C2F9FEE3F6AABB21179_11</vt:lpwstr>
  </property>
  <property fmtid="{D5CDD505-2E9C-101B-9397-08002B2CF9AE}" pid="3" name="KSOProductBuildVer">
    <vt:lpwstr>2057-12.2.0.23206</vt:lpwstr>
  </property>
</Properties>
</file>