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12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6858000" cy="9144000"/>
  <p:embeddedFontLst>
    <p:embeddedFont>
      <p:font typeface="Calibri" panose="020F0502020204030204"/>
      <p:regular r:id="rId20"/>
      <p:bold r:id="rId21"/>
      <p:italic r:id="rId22"/>
      <p:boldItalic r:id="rId23"/>
    </p:embeddedFont>
    <p:embeddedFont>
      <p:font typeface="Poppins" panose="00000500000000000000"/>
      <p:regular r:id="rId24"/>
      <p:bold r:id="rId25"/>
      <p:italic r:id="rId26"/>
      <p:boldItalic r:id="rId27"/>
    </p:embeddedFont>
    <p:embeddedFont>
      <p:font typeface="Lato" panose="020F0502020204030203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44" userDrawn="1">
          <p15:clr>
            <a:srgbClr val="000000"/>
          </p15:clr>
        </p15:guide>
        <p15:guide id="2" pos="2880" userDrawn="1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2144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30" Type="http://schemas.openxmlformats.org/officeDocument/2006/relationships/font" Target="fonts/font11.fntdata"/><Relationship Id="rId3" Type="http://schemas.openxmlformats.org/officeDocument/2006/relationships/slide" Target="slides/slide1.xml"/><Relationship Id="rId29" Type="http://schemas.openxmlformats.org/officeDocument/2006/relationships/font" Target="fonts/font10.fntdata"/><Relationship Id="rId28" Type="http://schemas.openxmlformats.org/officeDocument/2006/relationships/font" Target="fonts/font9.fntdata"/><Relationship Id="rId27" Type="http://schemas.openxmlformats.org/officeDocument/2006/relationships/font" Target="fonts/font8.fntdata"/><Relationship Id="rId26" Type="http://schemas.openxmlformats.org/officeDocument/2006/relationships/font" Target="fonts/font7.fntdata"/><Relationship Id="rId25" Type="http://schemas.openxmlformats.org/officeDocument/2006/relationships/font" Target="fonts/font6.fntdata"/><Relationship Id="rId24" Type="http://schemas.openxmlformats.org/officeDocument/2006/relationships/font" Target="fonts/font5.fntdata"/><Relationship Id="rId23" Type="http://schemas.openxmlformats.org/officeDocument/2006/relationships/font" Target="fonts/font4.fntdata"/><Relationship Id="rId22" Type="http://schemas.openxmlformats.org/officeDocument/2006/relationships/font" Target="fonts/font3.fntdata"/><Relationship Id="rId21" Type="http://schemas.openxmlformats.org/officeDocument/2006/relationships/font" Target="fonts/font2.fntdata"/><Relationship Id="rId20" Type="http://schemas.openxmlformats.org/officeDocument/2006/relationships/font" Target="fonts/font1.fntdata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2" name="Google Shape;82;p1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9" name="Google Shape;89;p2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7" name="Google Shape;97;p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2" name="Google Shape;112;p4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6" name="Google Shape;126;p5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4" name="Google Shape;134;p6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2" name="Google Shape;152;p7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8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5" name="Google Shape;175;p8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2" name="Google Shape;192;p9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4" name="Google Shape;204;p10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2" name="Google Shape;212;p11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9" name="Google Shape;229;p12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7" name="Google Shape;237;p1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 panose="020F0502020204030204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Two Content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ison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3" name="Google Shape;43;p7"/>
          <p:cNvSpPr txBox="1"/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5" name="Google Shape;45;p7"/>
          <p:cNvSpPr txBox="1"/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t with Caption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Picture with Caption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le and Vertical Text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Vertical Title and Text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/>
              <a:buChar char="•"/>
              <a:defRPr sz="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–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.png"/><Relationship Id="rId8" Type="http://schemas.openxmlformats.org/officeDocument/2006/relationships/image" Target="../media/image16.png"/><Relationship Id="rId7" Type="http://schemas.openxmlformats.org/officeDocument/2006/relationships/image" Target="../media/image15.png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1" Type="http://schemas.openxmlformats.org/officeDocument/2006/relationships/notesSlide" Target="../notesSlides/notesSlide7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8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1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6.png"/><Relationship Id="rId1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817562" y="901124"/>
            <a:ext cx="10441305" cy="2194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002D5B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Post-Treatment Brain Tumor Segmentation of High- and Low-Grade Gliomas</a:t>
            </a:r>
            <a:endParaRPr lang="en-US" sz="4800" b="1" i="0" u="none" strike="noStrike" cap="none">
              <a:solidFill>
                <a:srgbClr val="002D5B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1065530" y="3804255"/>
            <a:ext cx="9944100" cy="22142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Using U-Net on the BraTS 2024 Dataset</a:t>
            </a:r>
            <a:endParaRPr lang="en-US" sz="21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21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Presented by: Muhammad Wahaj Sajid &amp; Basit Ali</a:t>
            </a:r>
            <a:endParaRPr lang="en-US" sz="16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Supervised by: Ms. Mutyyba Asghar</a:t>
            </a:r>
            <a:endParaRPr lang="en-US" sz="16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Department of CS &amp; IT</a:t>
            </a:r>
            <a:endParaRPr lang="en-US" sz="16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4"/>
          <p:cNvSpPr txBox="1"/>
          <p:nvPr/>
        </p:nvSpPr>
        <p:spPr>
          <a:xfrm>
            <a:off x="3530679" y="2265015"/>
            <a:ext cx="5130641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002D5B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Introduction</a:t>
            </a:r>
            <a:endParaRPr lang="en-US" sz="6000" b="1" i="0" u="none" strike="noStrike" cap="none">
              <a:solidFill>
                <a:srgbClr val="002D5B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93" name="Google Shape;93;p14"/>
          <p:cNvSpPr/>
          <p:nvPr/>
        </p:nvSpPr>
        <p:spPr>
          <a:xfrm>
            <a:off x="5524500" y="3884265"/>
            <a:ext cx="1143000" cy="57150"/>
          </a:xfrm>
          <a:prstGeom prst="rect">
            <a:avLst/>
          </a:prstGeom>
          <a:solidFill>
            <a:srgbClr val="4F8B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3624262" y="4227165"/>
            <a:ext cx="4943475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The Critical Role of Post-Treatment Segmentation</a:t>
            </a:r>
            <a:endParaRPr lang="en-US" sz="18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5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5"/>
          <p:cNvSpPr txBox="1"/>
          <p:nvPr/>
        </p:nvSpPr>
        <p:spPr>
          <a:xfrm>
            <a:off x="1762125" y="2624137"/>
            <a:ext cx="9096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2D5B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Foundation for Neuro-Oncology: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 Critical for evaluating treatment response and monitoring tumor progression.</a:t>
            </a:r>
            <a:endParaRPr lang="en-US" sz="15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sp>
        <p:nvSpPr>
          <p:cNvPr id="101" name="Google Shape;101;p15"/>
          <p:cNvSpPr txBox="1"/>
          <p:nvPr/>
        </p:nvSpPr>
        <p:spPr>
          <a:xfrm>
            <a:off x="1762125" y="3167062"/>
            <a:ext cx="9096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2D5B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Informed Decisions: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 Enhances clinicians' ability to assess disease status and make therapeutic decisions.</a:t>
            </a:r>
            <a:endParaRPr lang="en-US" sz="15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sp>
        <p:nvSpPr>
          <p:cNvPr id="102" name="Google Shape;102;p15"/>
          <p:cNvSpPr txBox="1"/>
          <p:nvPr/>
        </p:nvSpPr>
        <p:spPr>
          <a:xfrm>
            <a:off x="1762125" y="3709987"/>
            <a:ext cx="9096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2D5B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Post-Treatment Complexity: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 Scans capture complex tumor morphology after surgery, radiation, and chemotherapy.</a:t>
            </a:r>
            <a:endParaRPr lang="en-US" sz="15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sp>
        <p:nvSpPr>
          <p:cNvPr id="103" name="Google Shape;103;p15"/>
          <p:cNvSpPr txBox="1"/>
          <p:nvPr/>
        </p:nvSpPr>
        <p:spPr>
          <a:xfrm>
            <a:off x="1762125" y="4557712"/>
            <a:ext cx="9096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2D5B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Clinical Need: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 Essential for predicting survival, assessing residual tumor burden, and identifying early signs of recurrence.</a:t>
            </a:r>
            <a:endParaRPr lang="en-US" sz="15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pic>
        <p:nvPicPr>
          <p:cNvPr id="104" name="Google Shape;104;p15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333500" y="2671762"/>
            <a:ext cx="28575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5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333500" y="3214687"/>
            <a:ext cx="28575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5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333500" y="3757612"/>
            <a:ext cx="28575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5" descr="image.png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1333500" y="4605337"/>
            <a:ext cx="28575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5"/>
          <p:cNvSpPr txBox="1"/>
          <p:nvPr/>
        </p:nvSpPr>
        <p:spPr>
          <a:xfrm>
            <a:off x="571500" y="571500"/>
            <a:ext cx="11601450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D5B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The Challenge of Post-Treatment Analysis</a:t>
            </a:r>
            <a:endParaRPr lang="en-US" sz="3300" b="1" i="0" u="none" strike="noStrike" cap="none">
              <a:solidFill>
                <a:srgbClr val="002D5B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109" name="Google Shape;109;p15"/>
          <p:cNvSpPr/>
          <p:nvPr/>
        </p:nvSpPr>
        <p:spPr>
          <a:xfrm>
            <a:off x="571500" y="1333500"/>
            <a:ext cx="11049000" cy="28575"/>
          </a:xfrm>
          <a:prstGeom prst="rect">
            <a:avLst/>
          </a:prstGeom>
          <a:solidFill>
            <a:srgbClr val="4F8B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p16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6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2410717"/>
            <a:ext cx="5286375" cy="2476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6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6334125" y="2410717"/>
            <a:ext cx="5286375" cy="2476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6"/>
          <p:cNvSpPr txBox="1"/>
          <p:nvPr/>
        </p:nvSpPr>
        <p:spPr>
          <a:xfrm>
            <a:off x="962025" y="2801242"/>
            <a:ext cx="4730591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D47A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High-Grade Gliomas (HGG)</a:t>
            </a:r>
            <a:endParaRPr lang="en-US" sz="2100" b="1" i="0" u="none" strike="noStrike" cap="none">
              <a:solidFill>
                <a:srgbClr val="0D47A1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118" name="Google Shape;118;p16"/>
          <p:cNvSpPr txBox="1"/>
          <p:nvPr/>
        </p:nvSpPr>
        <p:spPr>
          <a:xfrm>
            <a:off x="962025" y="3391792"/>
            <a:ext cx="45053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Known for their aggressive nature and high recurrence rates, even after surgical resection. Accurate post-treatment analysis is vital.</a:t>
            </a:r>
            <a:endParaRPr lang="en-US" sz="15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sp>
        <p:nvSpPr>
          <p:cNvPr id="119" name="Google Shape;119;p16"/>
          <p:cNvSpPr txBox="1"/>
          <p:nvPr/>
        </p:nvSpPr>
        <p:spPr>
          <a:xfrm>
            <a:off x="6724650" y="2801242"/>
            <a:ext cx="4730591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D47A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Low-Grade Gliomas (LGG)</a:t>
            </a:r>
            <a:endParaRPr lang="en-US" sz="2100" b="1" i="0" u="none" strike="noStrike" cap="none">
              <a:solidFill>
                <a:srgbClr val="0D47A1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120" name="Google Shape;120;p16"/>
          <p:cNvSpPr txBox="1"/>
          <p:nvPr/>
        </p:nvSpPr>
        <p:spPr>
          <a:xfrm>
            <a:off x="6724650" y="3391792"/>
            <a:ext cx="45053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Typically exhibit slower growth but carry a significant risk of progressing to higher grades over time. Monitoring is key.</a:t>
            </a:r>
            <a:endParaRPr lang="en-US" sz="15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sp>
        <p:nvSpPr>
          <p:cNvPr id="121" name="Google Shape;121;p16"/>
          <p:cNvSpPr txBox="1"/>
          <p:nvPr/>
        </p:nvSpPr>
        <p:spPr>
          <a:xfrm>
            <a:off x="571500" y="571500"/>
            <a:ext cx="11601450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D5B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Focus: High-Grade vs. Low-Grade Gliomas</a:t>
            </a:r>
            <a:endParaRPr lang="en-US" sz="3300" b="1" i="0" u="none" strike="noStrike" cap="none">
              <a:solidFill>
                <a:srgbClr val="002D5B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122" name="Google Shape;122;p16"/>
          <p:cNvSpPr/>
          <p:nvPr/>
        </p:nvSpPr>
        <p:spPr>
          <a:xfrm>
            <a:off x="571500" y="1333500"/>
            <a:ext cx="11049000" cy="28575"/>
          </a:xfrm>
          <a:prstGeom prst="rect">
            <a:avLst/>
          </a:prstGeom>
          <a:solidFill>
            <a:srgbClr val="4F8B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3" name="Google Shape;123;p16"/>
          <p:cNvSpPr txBox="1"/>
          <p:nvPr/>
        </p:nvSpPr>
        <p:spPr>
          <a:xfrm>
            <a:off x="1990725" y="5840759"/>
            <a:ext cx="82105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1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Differentiation between these subtypes is crucial due to their distinct biological behaviors and treatment paths.</a:t>
            </a:r>
            <a:endParaRPr lang="en-US" sz="1350" b="0" i="1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17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3380660" y="2265015"/>
            <a:ext cx="5430678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002D5B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Methodology</a:t>
            </a:r>
            <a:endParaRPr lang="en-US" sz="6000" b="1" i="0" u="none" strike="noStrike" cap="none">
              <a:solidFill>
                <a:srgbClr val="002D5B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524500" y="3884265"/>
            <a:ext cx="1143000" cy="57150"/>
          </a:xfrm>
          <a:prstGeom prst="rect">
            <a:avLst/>
          </a:prstGeom>
          <a:solidFill>
            <a:srgbClr val="4F8B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4638675" y="4227165"/>
            <a:ext cx="291465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Our Deep Learning Approach</a:t>
            </a:r>
            <a:endParaRPr lang="en-US" sz="18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18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18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6334125" y="2109787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8"/>
          <p:cNvSpPr txBox="1"/>
          <p:nvPr/>
        </p:nvSpPr>
        <p:spPr>
          <a:xfrm>
            <a:off x="571500" y="2300287"/>
            <a:ext cx="5286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Our research is built upon this foundational dataset:</a:t>
            </a:r>
            <a:endParaRPr lang="en-US" sz="15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pic>
        <p:nvPicPr>
          <p:cNvPr id="139" name="Google Shape;139;p18" descr="C:/Users/Wahaj Sajid/Pictures/Screenshots/Screenshot 2025-11-26 074941.pngScreenshot 2025-11-26 074941"/>
          <p:cNvPicPr preferRelativeResize="0"/>
          <p:nvPr/>
        </p:nvPicPr>
        <p:blipFill rotWithShape="1">
          <a:blip r:embed="rId3"/>
          <a:srcRect l="17764" r="17764"/>
          <a:stretch>
            <a:fillRect/>
          </a:stretch>
        </p:blipFill>
        <p:spPr>
          <a:xfrm>
            <a:off x="6334125" y="2051685"/>
            <a:ext cx="5448935" cy="379095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8"/>
          <p:cNvSpPr txBox="1"/>
          <p:nvPr/>
        </p:nvSpPr>
        <p:spPr>
          <a:xfrm>
            <a:off x="742950" y="27955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•</a:t>
            </a:r>
            <a:endParaRPr lang="en-US" sz="15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sp>
        <p:nvSpPr>
          <p:cNvPr id="141" name="Google Shape;141;p18"/>
          <p:cNvSpPr txBox="1"/>
          <p:nvPr/>
        </p:nvSpPr>
        <p:spPr>
          <a:xfrm>
            <a:off x="857250" y="2795587"/>
            <a:ext cx="50006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A large-scale, standardized, and expertly annotated collection.</a:t>
            </a:r>
            <a:endParaRPr lang="en-US" sz="15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sp>
        <p:nvSpPr>
          <p:cNvPr id="142" name="Google Shape;142;p18"/>
          <p:cNvSpPr txBox="1"/>
          <p:nvPr/>
        </p:nvSpPr>
        <p:spPr>
          <a:xfrm>
            <a:off x="742950" y="35956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•</a:t>
            </a:r>
            <a:endParaRPr lang="en-US" sz="15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sp>
        <p:nvSpPr>
          <p:cNvPr id="143" name="Google Shape;143;p18"/>
          <p:cNvSpPr txBox="1"/>
          <p:nvPr/>
        </p:nvSpPr>
        <p:spPr>
          <a:xfrm>
            <a:off x="857250" y="3595687"/>
            <a:ext cx="50006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Specifically focuses on complex post-treatment MRI scans.</a:t>
            </a:r>
            <a:endParaRPr lang="en-US" sz="15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sp>
        <p:nvSpPr>
          <p:cNvPr id="144" name="Google Shape;144;p18"/>
          <p:cNvSpPr txBox="1"/>
          <p:nvPr/>
        </p:nvSpPr>
        <p:spPr>
          <a:xfrm>
            <a:off x="742950" y="40909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•</a:t>
            </a:r>
            <a:endParaRPr lang="en-US" sz="15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sp>
        <p:nvSpPr>
          <p:cNvPr id="145" name="Google Shape;145;p18"/>
          <p:cNvSpPr txBox="1"/>
          <p:nvPr/>
        </p:nvSpPr>
        <p:spPr>
          <a:xfrm>
            <a:off x="857250" y="4090987"/>
            <a:ext cx="50006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Enables the development of robust and generalizable models.</a:t>
            </a:r>
            <a:endParaRPr lang="en-US" sz="15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sp>
        <p:nvSpPr>
          <p:cNvPr id="146" name="Google Shape;146;p18"/>
          <p:cNvSpPr txBox="1"/>
          <p:nvPr/>
        </p:nvSpPr>
        <p:spPr>
          <a:xfrm>
            <a:off x="742950" y="45862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•</a:t>
            </a:r>
            <a:endParaRPr lang="en-US" sz="15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sp>
        <p:nvSpPr>
          <p:cNvPr id="147" name="Google Shape;147;p18"/>
          <p:cNvSpPr txBox="1"/>
          <p:nvPr/>
        </p:nvSpPr>
        <p:spPr>
          <a:xfrm>
            <a:off x="857250" y="4586287"/>
            <a:ext cx="50006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Includes multimodal MRI sequences: </a:t>
            </a:r>
            <a:r>
              <a:rPr lang="en-US" sz="1500" b="1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T1, T1ce, T2, and FLAIR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.</a:t>
            </a:r>
            <a:endParaRPr lang="en-US" sz="15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sp>
        <p:nvSpPr>
          <p:cNvPr id="148" name="Google Shape;148;p18"/>
          <p:cNvSpPr txBox="1"/>
          <p:nvPr/>
        </p:nvSpPr>
        <p:spPr>
          <a:xfrm>
            <a:off x="571500" y="571500"/>
            <a:ext cx="11601450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D5B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The BraTS 2024 Dataset</a:t>
            </a:r>
            <a:endParaRPr lang="en-US" sz="3300" b="1" i="0" u="none" strike="noStrike" cap="none">
              <a:solidFill>
                <a:srgbClr val="002D5B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149" name="Google Shape;149;p18"/>
          <p:cNvSpPr/>
          <p:nvPr/>
        </p:nvSpPr>
        <p:spPr>
          <a:xfrm>
            <a:off x="571500" y="1333500"/>
            <a:ext cx="11049000" cy="28575"/>
          </a:xfrm>
          <a:prstGeom prst="rect">
            <a:avLst/>
          </a:prstGeom>
          <a:solidFill>
            <a:srgbClr val="4F8B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19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9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1306859"/>
            <a:ext cx="5381625" cy="23983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9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6238875" y="1306859"/>
            <a:ext cx="5381625" cy="23983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9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571500" y="3990975"/>
            <a:ext cx="5381625" cy="27317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19" descr="image.png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6238875" y="3990975"/>
            <a:ext cx="5381625" cy="273174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9"/>
          <p:cNvSpPr txBox="1"/>
          <p:nvPr/>
        </p:nvSpPr>
        <p:spPr>
          <a:xfrm>
            <a:off x="1907143" y="2316509"/>
            <a:ext cx="2710338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2D5B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Enhancing Tissue (ET)</a:t>
            </a:r>
            <a:endParaRPr lang="en-US" sz="1800" b="1" i="0" u="none" strike="noStrike" cap="none">
              <a:solidFill>
                <a:srgbClr val="002D5B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160" name="Google Shape;160;p19"/>
          <p:cNvSpPr txBox="1"/>
          <p:nvPr/>
        </p:nvSpPr>
        <p:spPr>
          <a:xfrm>
            <a:off x="1042987" y="2964209"/>
            <a:ext cx="44386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Represents the active, contrast-enhancing part of the tumor.</a:t>
            </a:r>
            <a:endParaRPr lang="en-US" sz="135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sp>
        <p:nvSpPr>
          <p:cNvPr id="161" name="Google Shape;161;p19"/>
          <p:cNvSpPr txBox="1"/>
          <p:nvPr/>
        </p:nvSpPr>
        <p:spPr>
          <a:xfrm>
            <a:off x="6734413" y="2316509"/>
            <a:ext cx="4390548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2D5B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Non-Enhancing Tumor Core (NETC)</a:t>
            </a:r>
            <a:endParaRPr lang="en-US" sz="1800" b="1" i="0" u="none" strike="noStrike" cap="none">
              <a:solidFill>
                <a:srgbClr val="002D5B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162" name="Google Shape;162;p19"/>
          <p:cNvSpPr txBox="1"/>
          <p:nvPr/>
        </p:nvSpPr>
        <p:spPr>
          <a:xfrm>
            <a:off x="7167562" y="2964209"/>
            <a:ext cx="35242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Includes the necrotic or cystic core of the tumor.</a:t>
            </a:r>
            <a:endParaRPr lang="en-US" sz="135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sp>
        <p:nvSpPr>
          <p:cNvPr id="163" name="Google Shape;163;p19"/>
          <p:cNvSpPr txBox="1"/>
          <p:nvPr/>
        </p:nvSpPr>
        <p:spPr>
          <a:xfrm>
            <a:off x="746998" y="5000625"/>
            <a:ext cx="5030628" cy="6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2D5B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Surrounding Non-Enhancing FLAIR Hyperintensity (SNFH)</a:t>
            </a:r>
            <a:endParaRPr lang="en-US" sz="1800" b="1" i="0" u="none" strike="noStrike" cap="none">
              <a:solidFill>
                <a:srgbClr val="002D5B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164" name="Google Shape;164;p19"/>
          <p:cNvSpPr txBox="1"/>
          <p:nvPr/>
        </p:nvSpPr>
        <p:spPr>
          <a:xfrm>
            <a:off x="1014412" y="5981700"/>
            <a:ext cx="44958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Represents peritumoral edema or non-enhancing infiltration.</a:t>
            </a:r>
            <a:endParaRPr lang="en-US" sz="135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sp>
        <p:nvSpPr>
          <p:cNvPr id="165" name="Google Shape;165;p19"/>
          <p:cNvSpPr txBox="1"/>
          <p:nvPr/>
        </p:nvSpPr>
        <p:spPr>
          <a:xfrm>
            <a:off x="7574518" y="5000625"/>
            <a:ext cx="2710338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2D5B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Resection Cavity (RC)</a:t>
            </a:r>
            <a:endParaRPr lang="en-US" sz="1800" b="1" i="0" u="none" strike="noStrike" cap="none">
              <a:solidFill>
                <a:srgbClr val="002D5B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166" name="Google Shape;166;p19"/>
          <p:cNvSpPr txBox="1"/>
          <p:nvPr/>
        </p:nvSpPr>
        <p:spPr>
          <a:xfrm>
            <a:off x="6853237" y="5648325"/>
            <a:ext cx="41529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The area corresponding to the surgically removed tissue.</a:t>
            </a:r>
            <a:endParaRPr lang="en-US" sz="135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pic>
        <p:nvPicPr>
          <p:cNvPr id="167" name="Google Shape;167;p19" descr="image.png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3033712" y="1621184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19" descr="image.png"/>
          <p:cNvPicPr preferRelativeResize="0"/>
          <p:nvPr/>
        </p:nvPicPr>
        <p:blipFill rotWithShape="1">
          <a:blip r:embed="rId7"/>
          <a:srcRect/>
          <a:stretch>
            <a:fillRect/>
          </a:stretch>
        </p:blipFill>
        <p:spPr>
          <a:xfrm>
            <a:off x="8701087" y="1621184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9" descr="image.png"/>
          <p:cNvPicPr preferRelativeResize="0"/>
          <p:nvPr/>
        </p:nvPicPr>
        <p:blipFill rotWithShape="1">
          <a:blip r:embed="rId8"/>
          <a:srcRect/>
          <a:stretch>
            <a:fillRect/>
          </a:stretch>
        </p:blipFill>
        <p:spPr>
          <a:xfrm>
            <a:off x="3005137" y="4305300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9" descr="image.png"/>
          <p:cNvPicPr preferRelativeResize="0"/>
          <p:nvPr/>
        </p:nvPicPr>
        <p:blipFill rotWithShape="1">
          <a:blip r:embed="rId9"/>
          <a:srcRect/>
          <a:stretch>
            <a:fillRect/>
          </a:stretch>
        </p:blipFill>
        <p:spPr>
          <a:xfrm>
            <a:off x="8672512" y="4305300"/>
            <a:ext cx="5143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9"/>
          <p:cNvSpPr txBox="1"/>
          <p:nvPr/>
        </p:nvSpPr>
        <p:spPr>
          <a:xfrm>
            <a:off x="571500" y="135284"/>
            <a:ext cx="11601450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D5B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Target: Tumor Subregions for Delineation</a:t>
            </a:r>
            <a:endParaRPr lang="en-US" sz="3300" b="1" i="0" u="none" strike="noStrike" cap="none">
              <a:solidFill>
                <a:srgbClr val="002D5B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172" name="Google Shape;172;p19"/>
          <p:cNvSpPr/>
          <p:nvPr/>
        </p:nvSpPr>
        <p:spPr>
          <a:xfrm>
            <a:off x="571500" y="897284"/>
            <a:ext cx="11049000" cy="28575"/>
          </a:xfrm>
          <a:prstGeom prst="rect">
            <a:avLst/>
          </a:prstGeom>
          <a:solidFill>
            <a:srgbClr val="4F8B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20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38100" y="-9525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20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404937" y="2205037"/>
            <a:ext cx="3619500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20"/>
          <p:cNvSpPr txBox="1"/>
          <p:nvPr/>
        </p:nvSpPr>
        <p:spPr>
          <a:xfrm>
            <a:off x="6334125" y="2395537"/>
            <a:ext cx="555069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D5B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Why U-Net?</a:t>
            </a:r>
            <a:endParaRPr lang="en-US" sz="2400" b="1" i="0" u="none" strike="noStrike" cap="none">
              <a:solidFill>
                <a:srgbClr val="002D5B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180" name="Google Shape;180;p20"/>
          <p:cNvSpPr txBox="1"/>
          <p:nvPr/>
        </p:nvSpPr>
        <p:spPr>
          <a:xfrm>
            <a:off x="6334125" y="3043237"/>
            <a:ext cx="5286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We employ the U-Net architecture, a powerful encoder-decoder structure, for this task.</a:t>
            </a:r>
            <a:endParaRPr lang="en-US" sz="15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pic>
        <p:nvPicPr>
          <p:cNvPr id="181" name="Google Shape;181;p20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519237" y="2147252"/>
            <a:ext cx="3505200" cy="35052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20"/>
          <p:cNvSpPr txBox="1"/>
          <p:nvPr/>
        </p:nvSpPr>
        <p:spPr>
          <a:xfrm>
            <a:off x="6505575" y="384333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•</a:t>
            </a:r>
            <a:endParaRPr lang="en-US" sz="15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sp>
        <p:nvSpPr>
          <p:cNvPr id="183" name="Google Shape;183;p20"/>
          <p:cNvSpPr txBox="1"/>
          <p:nvPr/>
        </p:nvSpPr>
        <p:spPr>
          <a:xfrm>
            <a:off x="6619875" y="3843337"/>
            <a:ext cx="50006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Effectively captures fine-grained spatial features.</a:t>
            </a:r>
            <a:endParaRPr lang="en-US" sz="15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sp>
        <p:nvSpPr>
          <p:cNvPr id="184" name="Google Shape;184;p20"/>
          <p:cNvSpPr txBox="1"/>
          <p:nvPr/>
        </p:nvSpPr>
        <p:spPr>
          <a:xfrm>
            <a:off x="6505575" y="433863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•</a:t>
            </a:r>
            <a:endParaRPr lang="en-US" sz="15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sp>
        <p:nvSpPr>
          <p:cNvPr id="185" name="Google Shape;185;p20"/>
          <p:cNvSpPr txBox="1"/>
          <p:nvPr/>
        </p:nvSpPr>
        <p:spPr>
          <a:xfrm>
            <a:off x="6619875" y="4338637"/>
            <a:ext cx="50006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Retains global contextual information.</a:t>
            </a:r>
            <a:endParaRPr lang="en-US" sz="15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sp>
        <p:nvSpPr>
          <p:cNvPr id="186" name="Google Shape;186;p20"/>
          <p:cNvSpPr txBox="1"/>
          <p:nvPr/>
        </p:nvSpPr>
        <p:spPr>
          <a:xfrm>
            <a:off x="6505575" y="483393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•</a:t>
            </a:r>
            <a:endParaRPr lang="en-US" sz="15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sp>
        <p:nvSpPr>
          <p:cNvPr id="187" name="Google Shape;187;p20"/>
          <p:cNvSpPr txBox="1"/>
          <p:nvPr/>
        </p:nvSpPr>
        <p:spPr>
          <a:xfrm>
            <a:off x="6619875" y="4833937"/>
            <a:ext cx="50006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Proven to be highly effective for biomedical image segmentation.</a:t>
            </a:r>
            <a:endParaRPr lang="en-US" sz="15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sp>
        <p:nvSpPr>
          <p:cNvPr id="188" name="Google Shape;188;p20"/>
          <p:cNvSpPr txBox="1"/>
          <p:nvPr/>
        </p:nvSpPr>
        <p:spPr>
          <a:xfrm>
            <a:off x="571500" y="571500"/>
            <a:ext cx="11601450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D5B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Our Model: The U-Net Architecture</a:t>
            </a:r>
            <a:endParaRPr lang="en-US" sz="3300" b="1" i="0" u="none" strike="noStrike" cap="none">
              <a:solidFill>
                <a:srgbClr val="002D5B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189" name="Google Shape;189;p20"/>
          <p:cNvSpPr/>
          <p:nvPr/>
        </p:nvSpPr>
        <p:spPr>
          <a:xfrm>
            <a:off x="571500" y="1333500"/>
            <a:ext cx="11049000" cy="28575"/>
          </a:xfrm>
          <a:prstGeom prst="rect">
            <a:avLst/>
          </a:prstGeom>
          <a:solidFill>
            <a:srgbClr val="4F8B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p21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1"/>
          <p:cNvSpPr txBox="1"/>
          <p:nvPr/>
        </p:nvSpPr>
        <p:spPr>
          <a:xfrm>
            <a:off x="571500" y="2890837"/>
            <a:ext cx="5286375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0" b="1" i="0" u="none" strike="noStrike" cap="none">
                <a:solidFill>
                  <a:srgbClr val="002D5B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DSC</a:t>
            </a:r>
            <a:endParaRPr lang="en-US" sz="12000" b="1" i="0" u="none" strike="noStrike" cap="none">
              <a:solidFill>
                <a:srgbClr val="002D5B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196" name="Google Shape;196;p21"/>
          <p:cNvSpPr txBox="1"/>
          <p:nvPr/>
        </p:nvSpPr>
        <p:spPr>
          <a:xfrm>
            <a:off x="571500" y="4414837"/>
            <a:ext cx="5286375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Dice Similarity Coefficient</a:t>
            </a:r>
            <a:endParaRPr lang="en-US" sz="2100" b="1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sp>
        <p:nvSpPr>
          <p:cNvPr id="197" name="Google Shape;197;p21"/>
          <p:cNvSpPr txBox="1"/>
          <p:nvPr/>
        </p:nvSpPr>
        <p:spPr>
          <a:xfrm>
            <a:off x="6334125" y="2890837"/>
            <a:ext cx="555069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D5B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Measuring Success</a:t>
            </a:r>
            <a:endParaRPr lang="en-US" sz="2400" b="1" i="0" u="none" strike="noStrike" cap="none">
              <a:solidFill>
                <a:srgbClr val="002D5B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198" name="Google Shape;198;p21"/>
          <p:cNvSpPr txBox="1"/>
          <p:nvPr/>
        </p:nvSpPr>
        <p:spPr>
          <a:xfrm>
            <a:off x="6334125" y="3538537"/>
            <a:ext cx="5286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Performance will be rigorously trained and validated on the BraTS 2024 dataset.</a:t>
            </a:r>
            <a:endParaRPr lang="en-US" sz="15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sp>
        <p:nvSpPr>
          <p:cNvPr id="199" name="Google Shape;199;p21"/>
          <p:cNvSpPr txBox="1"/>
          <p:nvPr/>
        </p:nvSpPr>
        <p:spPr>
          <a:xfrm>
            <a:off x="6334125" y="4338637"/>
            <a:ext cx="5286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We will use established metrics to measure accuracy, primarily the </a:t>
            </a:r>
            <a:r>
              <a:rPr lang="en-US" sz="1500" b="1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Dice Score (DSC)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, along with </a:t>
            </a:r>
            <a:r>
              <a:rPr lang="en-US" sz="1500" b="1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sensitivity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 and </a:t>
            </a:r>
            <a:r>
              <a:rPr lang="en-US" sz="1500" b="1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specificity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.</a:t>
            </a:r>
            <a:endParaRPr lang="en-US" sz="15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sp>
        <p:nvSpPr>
          <p:cNvPr id="200" name="Google Shape;200;p21"/>
          <p:cNvSpPr txBox="1"/>
          <p:nvPr/>
        </p:nvSpPr>
        <p:spPr>
          <a:xfrm>
            <a:off x="571500" y="571500"/>
            <a:ext cx="11601450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D5B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Evaluation Metrics</a:t>
            </a:r>
            <a:endParaRPr lang="en-US" sz="3300" b="1" i="0" u="none" strike="noStrike" cap="none">
              <a:solidFill>
                <a:srgbClr val="002D5B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201" name="Google Shape;201;p21"/>
          <p:cNvSpPr/>
          <p:nvPr/>
        </p:nvSpPr>
        <p:spPr>
          <a:xfrm>
            <a:off x="571500" y="1333500"/>
            <a:ext cx="11049000" cy="28575"/>
          </a:xfrm>
          <a:prstGeom prst="rect">
            <a:avLst/>
          </a:prstGeom>
          <a:solidFill>
            <a:srgbClr val="4F8B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22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2"/>
          <p:cNvSpPr txBox="1"/>
          <p:nvPr/>
        </p:nvSpPr>
        <p:spPr>
          <a:xfrm>
            <a:off x="1070371" y="2265015"/>
            <a:ext cx="10051256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002D5B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Aims &amp; Expected Impact</a:t>
            </a:r>
            <a:endParaRPr lang="en-US" sz="6000" b="1" i="0" u="none" strike="noStrike" cap="none">
              <a:solidFill>
                <a:srgbClr val="002D5B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208" name="Google Shape;208;p22"/>
          <p:cNvSpPr/>
          <p:nvPr/>
        </p:nvSpPr>
        <p:spPr>
          <a:xfrm>
            <a:off x="5524500" y="3884265"/>
            <a:ext cx="1143000" cy="57150"/>
          </a:xfrm>
          <a:prstGeom prst="rect">
            <a:avLst/>
          </a:prstGeom>
          <a:solidFill>
            <a:srgbClr val="4F8B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9" name="Google Shape;209;p22"/>
          <p:cNvSpPr txBox="1"/>
          <p:nvPr/>
        </p:nvSpPr>
        <p:spPr>
          <a:xfrm>
            <a:off x="4391025" y="4227165"/>
            <a:ext cx="340995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From Research to Clinical Practice</a:t>
            </a:r>
            <a:endParaRPr lang="en-US" sz="18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" name="Google Shape;214;p23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23"/>
          <p:cNvSpPr txBox="1"/>
          <p:nvPr/>
        </p:nvSpPr>
        <p:spPr>
          <a:xfrm>
            <a:off x="1762125" y="2657475"/>
            <a:ext cx="9096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2D5B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Contribute: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 Develop a reliable and efficient segmentation framework.</a:t>
            </a:r>
            <a:endParaRPr lang="en-US" sz="15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sp>
        <p:nvSpPr>
          <p:cNvPr id="216" name="Google Shape;216;p23"/>
          <p:cNvSpPr txBox="1"/>
          <p:nvPr/>
        </p:nvSpPr>
        <p:spPr>
          <a:xfrm>
            <a:off x="1762125" y="3200400"/>
            <a:ext cx="9096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2D5B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Enhance: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 Improve the accuracy of post-treatment glioma analysis.</a:t>
            </a:r>
            <a:endParaRPr lang="en-US" sz="15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sp>
        <p:nvSpPr>
          <p:cNvPr id="217" name="Google Shape;217;p23"/>
          <p:cNvSpPr txBox="1"/>
          <p:nvPr/>
        </p:nvSpPr>
        <p:spPr>
          <a:xfrm>
            <a:off x="1762125" y="3743325"/>
            <a:ext cx="9096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2D5B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Support: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 Aid clinical decision-making and improve prognosis estimation.</a:t>
            </a:r>
            <a:endParaRPr lang="en-US" sz="15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sp>
        <p:nvSpPr>
          <p:cNvPr id="218" name="Google Shape;218;p23"/>
          <p:cNvSpPr txBox="1"/>
          <p:nvPr/>
        </p:nvSpPr>
        <p:spPr>
          <a:xfrm>
            <a:off x="1762125" y="4286250"/>
            <a:ext cx="9096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2D5B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Advance: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 Promote the integration of automated image analysis tools into clinical practice.</a:t>
            </a:r>
            <a:endParaRPr lang="en-US" sz="15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sp>
        <p:nvSpPr>
          <p:cNvPr id="219" name="Google Shape;219;p23"/>
          <p:cNvSpPr txBox="1"/>
          <p:nvPr/>
        </p:nvSpPr>
        <p:spPr>
          <a:xfrm>
            <a:off x="1762125" y="4829175"/>
            <a:ext cx="9096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2D5B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Foster: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 Enable personalized treatment planning and better patient outcomes.</a:t>
            </a:r>
            <a:endParaRPr lang="en-US" sz="15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  <p:pic>
        <p:nvPicPr>
          <p:cNvPr id="220" name="Google Shape;220;p23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333500" y="2705100"/>
            <a:ext cx="28575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3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333500" y="3248025"/>
            <a:ext cx="28575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23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333500" y="3790950"/>
            <a:ext cx="28575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23" descr="image.png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1333500" y="4333875"/>
            <a:ext cx="28575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23" descr="image.png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1333500" y="4876800"/>
            <a:ext cx="28575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23"/>
          <p:cNvSpPr txBox="1"/>
          <p:nvPr/>
        </p:nvSpPr>
        <p:spPr>
          <a:xfrm>
            <a:off x="571500" y="571500"/>
            <a:ext cx="11601450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D5B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Goals of This Research</a:t>
            </a:r>
            <a:endParaRPr lang="en-US" sz="3300" b="1" i="0" u="none" strike="noStrike" cap="none">
              <a:solidFill>
                <a:srgbClr val="002D5B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226" name="Google Shape;226;p23"/>
          <p:cNvSpPr/>
          <p:nvPr/>
        </p:nvSpPr>
        <p:spPr>
          <a:xfrm>
            <a:off x="571500" y="1333500"/>
            <a:ext cx="11049000" cy="28575"/>
          </a:xfrm>
          <a:prstGeom prst="rect">
            <a:avLst/>
          </a:prstGeom>
          <a:solidFill>
            <a:srgbClr val="4F8B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1" name="Google Shape;231;p24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p24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690562" y="2063055"/>
            <a:ext cx="10810875" cy="2731740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24"/>
          <p:cNvSpPr txBox="1"/>
          <p:nvPr/>
        </p:nvSpPr>
        <p:spPr>
          <a:xfrm>
            <a:off x="1020365" y="2444055"/>
            <a:ext cx="10151268" cy="1009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250" b="1" i="0" u="none" strike="noStrike" cap="none">
                <a:solidFill>
                  <a:srgbClr val="FFFFFF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Advancing Neuro-Oncology</a:t>
            </a:r>
            <a:endParaRPr lang="en-US" sz="5250" b="1" i="0" u="none" strike="noStrike" cap="none">
              <a:solidFill>
                <a:srgbClr val="FFFFFF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234" name="Google Shape;234;p24"/>
          <p:cNvSpPr txBox="1"/>
          <p:nvPr/>
        </p:nvSpPr>
        <p:spPr>
          <a:xfrm>
            <a:off x="1262062" y="3720405"/>
            <a:ext cx="9667875" cy="426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FFFFFF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A reliable, automated framework for personalized patient care.</a:t>
            </a:r>
            <a:endParaRPr lang="en-US" sz="2100" b="0" i="0" u="none" strike="noStrike" cap="none">
              <a:solidFill>
                <a:srgbClr val="FFFFFF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25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25"/>
          <p:cNvSpPr txBox="1"/>
          <p:nvPr/>
        </p:nvSpPr>
        <p:spPr>
          <a:xfrm>
            <a:off x="295275" y="2301180"/>
            <a:ext cx="11601450" cy="12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0" b="1" i="0" u="none" strike="noStrike" cap="none">
                <a:solidFill>
                  <a:srgbClr val="002D5B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Questions?</a:t>
            </a:r>
            <a:endParaRPr lang="en-US" sz="6750" b="1" i="0" u="none" strike="noStrike" cap="none">
              <a:solidFill>
                <a:srgbClr val="002D5B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241" name="Google Shape;241;p25"/>
          <p:cNvSpPr txBox="1"/>
          <p:nvPr/>
        </p:nvSpPr>
        <p:spPr>
          <a:xfrm>
            <a:off x="571500" y="3863280"/>
            <a:ext cx="11049000" cy="426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334155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rPr>
              <a:t>Thank you for your attention.</a:t>
            </a:r>
            <a:endParaRPr lang="en-US" sz="2100" b="0" i="0" u="none" strike="noStrike" cap="none">
              <a:solidFill>
                <a:srgbClr val="334155"/>
              </a:solidFill>
              <a:latin typeface="Lato" panose="020F0502020204030203"/>
              <a:ea typeface="Lato" panose="020F0502020204030203"/>
              <a:cs typeface="Lato" panose="020F0502020204030203"/>
              <a:sym typeface="Lato" panose="020F0502020204030203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3077</Words>
  <Application>WPS Presentation</Application>
  <PresentationFormat/>
  <Paragraphs>130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3" baseType="lpstr">
      <vt:lpstr>Arial</vt:lpstr>
      <vt:lpstr>SimSun</vt:lpstr>
      <vt:lpstr>Wingdings</vt:lpstr>
      <vt:lpstr>Arial</vt:lpstr>
      <vt:lpstr>Calibri</vt:lpstr>
      <vt:lpstr>Poppins</vt:lpstr>
      <vt:lpstr>Lato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M Wahaj Sajid Ali</cp:lastModifiedBy>
  <cp:revision>5</cp:revision>
  <dcterms:created xsi:type="dcterms:W3CDTF">2025-11-18T16:31:00Z</dcterms:created>
  <dcterms:modified xsi:type="dcterms:W3CDTF">2026-02-14T06:21:52Z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A56E0480B47A457C92EE76F670DDEAC6_12</vt:lpwstr>
  </property>
  <property fmtid="{D5CDD505-2E9C-101B-9397-08002B2CF9AE}" pid="3" name="KSOProductBuildVer">
    <vt:lpwstr>2057-12.2.0.23197</vt:lpwstr>
  </property>
</Properties>
</file>