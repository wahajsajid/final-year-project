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embeddedFontLst>
    <p:embeddedFont>
      <p:font typeface="Calibri" panose="020F0502020204030204"/>
      <p:regular r:id="rId20"/>
      <p:bold r:id="rId21"/>
      <p:italic r:id="rId22"/>
      <p:boldItalic r:id="rId23"/>
    </p:embeddedFont>
    <p:embeddedFont>
      <p:font typeface="Poppins" panose="00000500000000000000"/>
      <p:regular r:id="rId24"/>
      <p:bold r:id="rId25"/>
      <p:italic r:id="rId26"/>
      <p:boldItalic r:id="rId27"/>
    </p:embeddedFont>
    <p:embeddedFont>
      <p:font typeface="Lato" panose="020F0502020204030203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30" Type="http://schemas.openxmlformats.org/officeDocument/2006/relationships/font" Target="fonts/font11.fntdata"/><Relationship Id="rId3" Type="http://schemas.openxmlformats.org/officeDocument/2006/relationships/slide" Target="slides/slide1.xml"/><Relationship Id="rId29" Type="http://schemas.openxmlformats.org/officeDocument/2006/relationships/font" Target="fonts/font10.fntdata"/><Relationship Id="rId28" Type="http://schemas.openxmlformats.org/officeDocument/2006/relationships/font" Target="fonts/font9.fntdata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" name="Google Shape;126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2" name="Google Shape;152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5" name="Google Shape;175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2" name="Google Shape;192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2" name="Google Shape;212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9" name="Google Shape;229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7" name="Google Shape;237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817562" y="901124"/>
            <a:ext cx="10441305" cy="2194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2D5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Post-Treatment Brain Tumor Segmentation of High- and Low-Grade Gliomas</a:t>
            </a:r>
            <a:endParaRPr lang="en-US" sz="4800" b="1" i="0" u="none" strike="noStrike" cap="none">
              <a:solidFill>
                <a:srgbClr val="002D5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065530" y="3804255"/>
            <a:ext cx="9944100" cy="2214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Using U-Net on the BraTS 2024 Dataset</a:t>
            </a:r>
            <a:endParaRPr lang="en-US" sz="21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1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Presented by: Muhammad Wahaj Sajid &amp; Basit Ali</a:t>
            </a:r>
            <a:endParaRPr lang="en-US" sz="16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Supervised by: Ms. Mutyyba Asghar</a:t>
            </a:r>
            <a:endParaRPr lang="en-US" sz="16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Department of CS &amp; IT</a:t>
            </a:r>
            <a:endParaRPr lang="en-US" sz="16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3530679" y="2265015"/>
            <a:ext cx="513064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2D5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Introduction</a:t>
            </a:r>
            <a:endParaRPr lang="en-US" sz="6000" b="1" i="0" u="none" strike="noStrike" cap="none">
              <a:solidFill>
                <a:srgbClr val="002D5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5524500" y="3884265"/>
            <a:ext cx="1143000" cy="57150"/>
          </a:xfrm>
          <a:prstGeom prst="rect">
            <a:avLst/>
          </a:prstGeom>
          <a:solidFill>
            <a:srgbClr val="4F8B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624262" y="4227165"/>
            <a:ext cx="49434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The Critical Role of Post-Treatment Segmentation</a:t>
            </a:r>
            <a:endParaRPr lang="en-US" sz="18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1762125" y="2624137"/>
            <a:ext cx="909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D5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Foundation for Neuro-Oncology: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Critical for evaluating treatment response and monitoring tumor progression.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1762125" y="3167062"/>
            <a:ext cx="909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D5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Informed Decisions: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Enhances clinicians' ability to assess disease status and make therapeutic decisions.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1762125" y="3709987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D5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Post-Treatment Complexity: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Scans capture complex tumor morphology after surgery, radiation, and chemotherapy.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1762125" y="4557712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D5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Clinical Need: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Essential for predicting survival, assessing residual tumor burden, and identifying early signs of recurrence.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04" name="Google Shape;104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333500" y="2671762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333500" y="3214687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33500" y="3757612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333500" y="4605337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The Challenge of Post-Treatment Analysis</a:t>
            </a:r>
            <a:endParaRPr lang="en-US" sz="3300" b="1" i="0" u="none" strike="noStrike" cap="none">
              <a:solidFill>
                <a:srgbClr val="002D5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4F8B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410717"/>
            <a:ext cx="5286375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34125" y="2410717"/>
            <a:ext cx="5286375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962025" y="280124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D47A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High-Grade Gliomas (HGG)</a:t>
            </a:r>
            <a:endParaRPr lang="en-US" sz="2100" b="1" i="0" u="none" strike="noStrike" cap="none">
              <a:solidFill>
                <a:srgbClr val="0D47A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962025" y="3391792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Known for their aggressive nature and high recurrence rates, even after surgical resection. Accurate post-treatment analysis is vital.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6724650" y="280124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D47A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Low-Grade Gliomas (LGG)</a:t>
            </a:r>
            <a:endParaRPr lang="en-US" sz="2100" b="1" i="0" u="none" strike="noStrike" cap="none">
              <a:solidFill>
                <a:srgbClr val="0D47A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6724650" y="3391792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Typically exhibit slower growth but carry a significant risk of progressing to higher grades over time. Monitoring is key.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Focus: High-Grade vs. Low-Grade Gliomas</a:t>
            </a:r>
            <a:endParaRPr lang="en-US" sz="3300" b="1" i="0" u="none" strike="noStrike" cap="none">
              <a:solidFill>
                <a:srgbClr val="002D5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4F8B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1990725" y="5840759"/>
            <a:ext cx="82105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Differentiation between these subtypes is crucial due to their distinct biological behaviors and treatment paths.</a:t>
            </a:r>
            <a:endParaRPr lang="en-US" sz="1350" b="0" i="1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3380660" y="2265015"/>
            <a:ext cx="543067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2D5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Methodology</a:t>
            </a:r>
            <a:endParaRPr lang="en-US" sz="6000" b="1" i="0" u="none" strike="noStrike" cap="none">
              <a:solidFill>
                <a:srgbClr val="002D5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524500" y="3884265"/>
            <a:ext cx="1143000" cy="57150"/>
          </a:xfrm>
          <a:prstGeom prst="rect">
            <a:avLst/>
          </a:prstGeom>
          <a:solidFill>
            <a:srgbClr val="4F8B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4638675" y="4227165"/>
            <a:ext cx="2914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Our Deep Learning Approach</a:t>
            </a:r>
            <a:endParaRPr lang="en-US" sz="18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21097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571500" y="230028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Our research is built upon this foundational dataset: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39" name="Google Shape;139;p18" descr="C:/Users/Wahaj Sajid/Pictures/Screenshots/Screenshot 2025-11-26 074941.pngScreenshot 2025-11-26 074941"/>
          <p:cNvPicPr preferRelativeResize="0"/>
          <p:nvPr/>
        </p:nvPicPr>
        <p:blipFill rotWithShape="1">
          <a:blip r:embed="rId3"/>
          <a:srcRect l="17764" r="17764"/>
          <a:stretch>
            <a:fillRect/>
          </a:stretch>
        </p:blipFill>
        <p:spPr>
          <a:xfrm>
            <a:off x="6334125" y="2051685"/>
            <a:ext cx="544893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742950" y="27955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857250" y="279558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 large-scale, standardized, and expertly annotated collection.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742950" y="35956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857250" y="3595687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Specifically focuses on complex post-treatment MRI scans.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742950" y="40909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857250" y="4090987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Enables the development of robust and generalizable models.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742950" y="45862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857250" y="458628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Includes multimodal MRI sequences: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T1, T1ce, T2, and FLAIR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The BraTS 2024 Dataset</a:t>
            </a:r>
            <a:endParaRPr lang="en-US" sz="3300" b="1" i="0" u="none" strike="noStrike" cap="none">
              <a:solidFill>
                <a:srgbClr val="002D5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4F8B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306859"/>
            <a:ext cx="5381625" cy="2398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38875" y="1306859"/>
            <a:ext cx="5381625" cy="2398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3990975"/>
            <a:ext cx="5381625" cy="273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238875" y="3990975"/>
            <a:ext cx="5381625" cy="27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1907143" y="2316509"/>
            <a:ext cx="271033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5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Enhancing Tissue (ET)</a:t>
            </a:r>
            <a:endParaRPr lang="en-US" sz="1800" b="1" i="0" u="none" strike="noStrike" cap="none">
              <a:solidFill>
                <a:srgbClr val="002D5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1042987" y="2964209"/>
            <a:ext cx="44386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Represents the active, contrast-enhancing part of the tumor.</a:t>
            </a:r>
            <a:endParaRPr lang="en-US" sz="13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6734413" y="2316509"/>
            <a:ext cx="439054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5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Non-Enhancing Tumor Core (NETC)</a:t>
            </a:r>
            <a:endParaRPr lang="en-US" sz="1800" b="1" i="0" u="none" strike="noStrike" cap="none">
              <a:solidFill>
                <a:srgbClr val="002D5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7167562" y="2964209"/>
            <a:ext cx="3524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Includes the necrotic or cystic core of the tumor.</a:t>
            </a:r>
            <a:endParaRPr lang="en-US" sz="13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746998" y="5000625"/>
            <a:ext cx="5030628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5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Surrounding Non-Enhancing FLAIR Hyperintensity (SNFH)</a:t>
            </a:r>
            <a:endParaRPr lang="en-US" sz="1800" b="1" i="0" u="none" strike="noStrike" cap="none">
              <a:solidFill>
                <a:srgbClr val="002D5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1014412" y="5981700"/>
            <a:ext cx="44958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Represents peritumoral edema or non-enhancing infiltration.</a:t>
            </a:r>
            <a:endParaRPr lang="en-US" sz="13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7574518" y="5000625"/>
            <a:ext cx="271033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5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Resection Cavity (RC)</a:t>
            </a:r>
            <a:endParaRPr lang="en-US" sz="1800" b="1" i="0" u="none" strike="noStrike" cap="none">
              <a:solidFill>
                <a:srgbClr val="002D5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6853237" y="5648325"/>
            <a:ext cx="41529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The area corresponding to the surgically removed tissue.</a:t>
            </a:r>
            <a:endParaRPr lang="en-US" sz="135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67" name="Google Shape;167;p19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033712" y="162118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701087" y="162118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3005137" y="430530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672512" y="430530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571500" y="135284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Target: Tumor Subregions for Delineation</a:t>
            </a:r>
            <a:endParaRPr lang="en-US" sz="3300" b="1" i="0" u="none" strike="noStrike" cap="none">
              <a:solidFill>
                <a:srgbClr val="002D5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571500" y="897284"/>
            <a:ext cx="11049000" cy="28575"/>
          </a:xfrm>
          <a:prstGeom prst="rect">
            <a:avLst/>
          </a:prstGeom>
          <a:solidFill>
            <a:srgbClr val="4F8B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8100" y="-95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404937" y="2205037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6334125" y="239553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D5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Why U-Net?</a:t>
            </a:r>
            <a:endParaRPr lang="en-US" sz="2400" b="1" i="0" u="none" strike="noStrike" cap="none">
              <a:solidFill>
                <a:srgbClr val="002D5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334125" y="30432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We employ the U-Net architecture, a powerful encoder-decoder structure, for this task.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181" name="Google Shape;181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519237" y="2147252"/>
            <a:ext cx="350520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6505575" y="38433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619875" y="3843337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Effectively captures fine-grained spatial features.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6505575" y="43386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619875" y="4338637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Retains global contextual information.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6505575" y="48339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•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6619875" y="4833937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Proven to be highly effective for biomedical image segmentation.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Our Model: The U-Net Architecture</a:t>
            </a:r>
            <a:endParaRPr lang="en-US" sz="3300" b="1" i="0" u="none" strike="noStrike" cap="none">
              <a:solidFill>
                <a:srgbClr val="002D5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4F8B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571500" y="2890837"/>
            <a:ext cx="52863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002D5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DSC</a:t>
            </a:r>
            <a:endParaRPr lang="en-US" sz="12000" b="1" i="0" u="none" strike="noStrike" cap="none">
              <a:solidFill>
                <a:srgbClr val="002D5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571500" y="4414837"/>
            <a:ext cx="52863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Dice Similarity Coefficient</a:t>
            </a:r>
            <a:endParaRPr lang="en-US" sz="2100" b="1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6334125" y="289083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D5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Measuring Success</a:t>
            </a:r>
            <a:endParaRPr lang="en-US" sz="2400" b="1" i="0" u="none" strike="noStrike" cap="none">
              <a:solidFill>
                <a:srgbClr val="002D5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6334125" y="35385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Performance will be rigorously trained and validated on the BraTS 2024 dataset.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6334125" y="43386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We will use established metrics to measure accuracy, primarily the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Dice Score (DSC)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, along with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sensitivity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and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specificity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Evaluation Metrics</a:t>
            </a:r>
            <a:endParaRPr lang="en-US" sz="3300" b="1" i="0" u="none" strike="noStrike" cap="none">
              <a:solidFill>
                <a:srgbClr val="002D5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4F8B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1070371" y="2265015"/>
            <a:ext cx="10051256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2D5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Aims &amp; Expected Impact</a:t>
            </a:r>
            <a:endParaRPr lang="en-US" sz="6000" b="1" i="0" u="none" strike="noStrike" cap="none">
              <a:solidFill>
                <a:srgbClr val="002D5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5524500" y="3884265"/>
            <a:ext cx="1143000" cy="57150"/>
          </a:xfrm>
          <a:prstGeom prst="rect">
            <a:avLst/>
          </a:prstGeom>
          <a:solidFill>
            <a:srgbClr val="4F8B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4391025" y="4227165"/>
            <a:ext cx="340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From Research to Clinical Practice</a:t>
            </a:r>
            <a:endParaRPr lang="en-US" sz="18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 txBox="1"/>
          <p:nvPr/>
        </p:nvSpPr>
        <p:spPr>
          <a:xfrm>
            <a:off x="1762125" y="2657475"/>
            <a:ext cx="909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D5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Contribute: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Develop a reliable and efficient segmentation framework.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1762125" y="3200400"/>
            <a:ext cx="909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D5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Enhance: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Improve the accuracy of post-treatment glioma analysis.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1762125" y="3743325"/>
            <a:ext cx="909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D5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Support: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Aid clinical decision-making and improve prognosis estimation.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1762125" y="4286250"/>
            <a:ext cx="909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D5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Advance: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Promote the integration of automated image analysis tools into clinical practice.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1762125" y="4829175"/>
            <a:ext cx="909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D5B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Foster: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Enable personalized treatment planning and better patient outcomes.</a:t>
            </a:r>
            <a:endParaRPr lang="en-US" sz="15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220" name="Google Shape;220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333500" y="2705100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333500" y="3248025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33500" y="3790950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333500" y="4333875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333500" y="4876800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D5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Goals of This Research</a:t>
            </a:r>
            <a:endParaRPr lang="en-US" sz="3300" b="1" i="0" u="none" strike="noStrike" cap="none">
              <a:solidFill>
                <a:srgbClr val="002D5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4F8B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90562" y="2063055"/>
            <a:ext cx="10810875" cy="27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4"/>
          <p:cNvSpPr txBox="1"/>
          <p:nvPr/>
        </p:nvSpPr>
        <p:spPr>
          <a:xfrm>
            <a:off x="1020365" y="2444055"/>
            <a:ext cx="10151268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FFFFF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Advancing Neuro-Oncology</a:t>
            </a:r>
            <a:endParaRPr lang="en-US" sz="5250" b="1" i="0" u="none" strike="noStrike" cap="none">
              <a:solidFill>
                <a:srgbClr val="FFFFFF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34" name="Google Shape;234;p24"/>
          <p:cNvSpPr txBox="1"/>
          <p:nvPr/>
        </p:nvSpPr>
        <p:spPr>
          <a:xfrm>
            <a:off x="1262062" y="3720405"/>
            <a:ext cx="966787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 reliable, automated framework for personalized patient care.</a:t>
            </a:r>
            <a:endParaRPr lang="en-US" sz="2100" b="0" i="0" u="none" strike="noStrike" cap="none">
              <a:solidFill>
                <a:srgbClr val="FFFF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5"/>
          <p:cNvSpPr txBox="1"/>
          <p:nvPr/>
        </p:nvSpPr>
        <p:spPr>
          <a:xfrm>
            <a:off x="295275" y="2301180"/>
            <a:ext cx="1160145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002D5B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Questions?</a:t>
            </a:r>
            <a:endParaRPr lang="en-US" sz="6750" b="1" i="0" u="none" strike="noStrike" cap="none">
              <a:solidFill>
                <a:srgbClr val="002D5B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1" name="Google Shape;241;p25"/>
          <p:cNvSpPr txBox="1"/>
          <p:nvPr/>
        </p:nvSpPr>
        <p:spPr>
          <a:xfrm>
            <a:off x="571500" y="386328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Thank you for your attention.</a:t>
            </a:r>
            <a:endParaRPr lang="en-US" sz="2100" b="0" i="0" u="none" strike="noStrike" cap="none">
              <a:solidFill>
                <a:srgbClr val="334155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3077</Words>
  <Application>WPS Presentation</Application>
  <PresentationFormat/>
  <Paragraphs>130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Poppins</vt:lpstr>
      <vt:lpstr>Lato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 Wahaj Sajid Ali</cp:lastModifiedBy>
  <cp:revision>4</cp:revision>
  <dcterms:created xsi:type="dcterms:W3CDTF">2025-11-18T16:31:00Z</dcterms:created>
  <dcterms:modified xsi:type="dcterms:W3CDTF">2026-01-16T03:16:25Z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A56E0480B47A457C92EE76F670DDEAC6_12</vt:lpwstr>
  </property>
  <property fmtid="{D5CDD505-2E9C-101B-9397-08002B2CF9AE}" pid="3" name="KSOProductBuildVer">
    <vt:lpwstr>2057-12.2.0.23197</vt:lpwstr>
  </property>
</Properties>
</file>